
<file path=[Content_Types].xml><?xml version="1.0" encoding="utf-8"?>
<Types xmlns="http://schemas.openxmlformats.org/package/2006/content-types"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3" r:id="rId16"/>
    <p:sldId id="271" r:id="rId17"/>
    <p:sldId id="272" r:id="rId18"/>
    <p:sldId id="274" r:id="rId19"/>
    <p:sldId id="275" r:id="rId20"/>
    <p:sldId id="281" r:id="rId21"/>
    <p:sldId id="276" r:id="rId22"/>
    <p:sldId id="277" r:id="rId23"/>
    <p:sldId id="278" r:id="rId24"/>
    <p:sldId id="279" r:id="rId25"/>
    <p:sldId id="280" r:id="rId26"/>
    <p:sldId id="282" r:id="rId2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5446C036-A92F-48B6-BC44-5B453C86EB48}">
          <p14:sldIdLst>
            <p14:sldId id="256"/>
            <p14:sldId id="257"/>
            <p14:sldId id="258"/>
            <p14:sldId id="259"/>
            <p14:sldId id="261"/>
            <p14:sldId id="262"/>
            <p14:sldId id="260"/>
            <p14:sldId id="264"/>
            <p14:sldId id="265"/>
            <p14:sldId id="266"/>
            <p14:sldId id="267"/>
            <p14:sldId id="268"/>
            <p14:sldId id="269"/>
            <p14:sldId id="270"/>
            <p14:sldId id="273"/>
            <p14:sldId id="271"/>
            <p14:sldId id="272"/>
            <p14:sldId id="274"/>
            <p14:sldId id="275"/>
          </p14:sldIdLst>
        </p14:section>
        <p14:section name="旋转" id="{ADFE793B-F1B2-4747-9372-768DC997A856}">
          <p14:sldIdLst>
            <p14:sldId id="281"/>
            <p14:sldId id="276"/>
            <p14:sldId id="277"/>
            <p14:sldId id="278"/>
            <p14:sldId id="279"/>
            <p14:sldId id="280"/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546A"/>
    <a:srgbClr val="82A162"/>
    <a:srgbClr val="333F50"/>
    <a:srgbClr val="FFE699"/>
    <a:srgbClr val="0F0F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inimized" horzBarState="maximized">
    <p:restoredLeft sz="5686" autoAdjust="0"/>
    <p:restoredTop sz="94660"/>
  </p:normalViewPr>
  <p:slideViewPr>
    <p:cSldViewPr snapToGrid="0">
      <p:cViewPr varScale="1">
        <p:scale>
          <a:sx n="87" d="100"/>
          <a:sy n="87" d="100"/>
        </p:scale>
        <p:origin x="94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954E81-EEAA-4030-8801-3581DBDBD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15F1EA0-EFD2-4F02-9572-FD742B0616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CD4177-F31A-49C2-A660-21E86883A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D8D08-78BB-4868-BE47-31301926B656}" type="datetimeFigureOut">
              <a:rPr lang="zh-CN" altLang="en-US" smtClean="0"/>
              <a:t>2021/11/19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581375-D67B-4CA4-AD50-37D5059F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439979-897E-41A3-B9BC-F46692B2C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FFE20-5071-415F-BFBE-E7EA58D797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65455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B455A2-2D3C-4195-BB22-F8B695C26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C344BD-ED3F-48FD-AB2B-28C7110F26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BF580A-788C-4335-B743-E81B3F53B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D8D08-78BB-4868-BE47-31301926B656}" type="datetimeFigureOut">
              <a:rPr lang="zh-CN" altLang="en-US" smtClean="0"/>
              <a:t>2021/11/19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9EB4B0-C9EC-491A-8B03-5218061E7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6CFEFF-A7C8-4F6C-BB4C-47C76C387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FFE20-5071-415F-BFBE-E7EA58D797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7700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F450BB-EC3A-405C-9128-7886C59AC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B34A31-664D-484A-85F3-8F10144926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81D098-24C0-4091-9884-E67B7A2EA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D8D08-78BB-4868-BE47-31301926B656}" type="datetimeFigureOut">
              <a:rPr lang="zh-CN" altLang="en-US" smtClean="0"/>
              <a:t>2021/11/19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5EAA94-BAFB-4787-B893-9C4606F8E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AB33B6-01BF-488A-BC30-5FC6B026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FFE20-5071-415F-BFBE-E7EA58D797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4385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340B5D-55A2-4CA3-B3CE-37681123B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BBF6010-6476-4CDB-AA47-966E7053B7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675827A-E994-45EB-AF8E-9F1DB1DD19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7B35640-C2DB-49D8-B042-B0ECEEF68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D8D08-78BB-4868-BE47-31301926B656}" type="datetimeFigureOut">
              <a:rPr lang="zh-CN" altLang="en-US" smtClean="0"/>
              <a:t>2021/11/19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55340A-8E4F-47B2-B7F7-4C35A36E6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5D2A939-AF3F-40AC-962B-243CC620D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FFE20-5071-415F-BFBE-E7EA58D797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7847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BEAC2C-7872-4940-AA68-4C6A8320E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B0555B2-6979-4E9D-887C-552A8D2315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74E3CC9-4385-49F1-B99E-298B77AA66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EEAC3FC-C427-4CE7-829C-077A7F15D1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F06CBBE-599C-4C1D-9595-C39CBC1E7A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4082624-87F5-4482-86F2-5E3A32EFF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D8D08-78BB-4868-BE47-31301926B656}" type="datetimeFigureOut">
              <a:rPr lang="zh-CN" altLang="en-US" smtClean="0"/>
              <a:t>2021/11/19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49B951F-9647-46B2-87B1-1B31668E7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BD5C966-F362-4B75-BAFD-81C2820AE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FFE20-5071-415F-BFBE-E7EA58D797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235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8BFE88-07ED-487A-AE15-8093C245B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F56849D-54D4-4E9E-AD74-53C6E6BA5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D8D08-78BB-4868-BE47-31301926B656}" type="datetimeFigureOut">
              <a:rPr lang="zh-CN" altLang="en-US" smtClean="0"/>
              <a:t>2021/11/19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8DFD96C-68A0-435E-8D82-1CE1A2F05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6919CAD-4767-49B9-9CA0-B19D2C878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FFE20-5071-415F-BFBE-E7EA58D797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0846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BF9D575-1A50-4593-BDDF-E9899ADF5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D8D08-78BB-4868-BE47-31301926B656}" type="datetimeFigureOut">
              <a:rPr lang="zh-CN" altLang="en-US" smtClean="0"/>
              <a:t>2021/11/19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A3FB3FB-3FAD-48F2-AEF1-3A580913E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15F5E0D-9DBF-4E58-A7AA-DB2E174EE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FFE20-5071-415F-BFBE-E7EA58D797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8720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A2EE50-45F7-420A-B267-8C0A5CFF5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FE84F2-A562-47E8-A7F6-56C04D509D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F706872-D9BC-41FF-9FB2-AD919E4213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E79E57F-C4D4-4A73-81C8-E7253E723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D8D08-78BB-4868-BE47-31301926B656}" type="datetimeFigureOut">
              <a:rPr lang="zh-CN" altLang="en-US" smtClean="0"/>
              <a:t>2021/11/19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A88BFF9-579E-4F15-B20B-4D760B059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154CEBD-368F-4F73-8F95-6B337CA0D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FFE20-5071-415F-BFBE-E7EA58D797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9033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074748-91F9-46C8-8DD3-531BDA0D7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CF0F1F5-A03B-4750-AF52-2C36FEBFD2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CF513A3-70AC-48A5-96E8-B29B2AEDBE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B5DE94F-4C32-43F9-BEFE-6B0A3FDBA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D8D08-78BB-4868-BE47-31301926B656}" type="datetimeFigureOut">
              <a:rPr lang="zh-CN" altLang="en-US" smtClean="0"/>
              <a:t>2021/11/19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F2E3BAF-D21B-45FD-8664-AC34BBD04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AA3A08C-2EBA-4301-A7C7-C9E275417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FFE20-5071-415F-BFBE-E7EA58D797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511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42F595-177C-4B30-8360-A44164807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7F20A66-99E8-47A0-BB84-E03BE69DBB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19D426-17D0-42EE-8FF1-D2001B910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D8D08-78BB-4868-BE47-31301926B656}" type="datetimeFigureOut">
              <a:rPr lang="zh-CN" altLang="en-US" smtClean="0"/>
              <a:t>2021/11/19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CDB7FFA-3BE6-4D1F-AE26-EF9A87F89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6D212B-95D9-42EE-B10C-0116F19BF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FFE20-5071-415F-BFBE-E7EA58D797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54266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3A9B251-3B0C-4BA9-808E-BF8E7FD15E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1E9ACDC-3CAB-4661-9B57-51E543AF8A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F35CC8F-74F6-44F8-9D29-5ADA6018A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D8D08-78BB-4868-BE47-31301926B656}" type="datetimeFigureOut">
              <a:rPr lang="zh-CN" altLang="en-US" smtClean="0"/>
              <a:t>2021/11/19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CDCADA-DFDD-44C0-9C36-5CCF81AD5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B35B803-9F37-4B3C-A038-3231A6253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FFE20-5071-415F-BFBE-E7EA58D797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9598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B297F8A-27AA-4C0F-9322-84D4E6923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9BDBA0B-78BA-474D-8D07-B6F6785A81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9FB8DA-B3F7-4064-B4BC-0C93B9A505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FD8D08-78BB-4868-BE47-31301926B656}" type="datetimeFigureOut">
              <a:rPr lang="zh-CN" altLang="en-US" smtClean="0"/>
              <a:t>2021/11/19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BD086D-05DE-484C-AB2A-2D507FA58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301DC15-C2FC-4B3C-8264-D240C662A5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6FFE20-5071-415F-BFBE-E7EA58D797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822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eg"/><Relationship Id="rId5" Type="http://schemas.openxmlformats.org/officeDocument/2006/relationships/image" Target="../media/image8.gif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13" Type="http://schemas.openxmlformats.org/officeDocument/2006/relationships/image" Target="../media/image30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sv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svg"/><Relationship Id="rId4" Type="http://schemas.openxmlformats.org/officeDocument/2006/relationships/image" Target="../media/image21.svg"/><Relationship Id="rId9" Type="http://schemas.openxmlformats.org/officeDocument/2006/relationships/image" Target="../media/image26.png"/><Relationship Id="rId1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66.png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10" Type="http://schemas.openxmlformats.org/officeDocument/2006/relationships/image" Target="../media/image69.png"/><Relationship Id="rId4" Type="http://schemas.openxmlformats.org/officeDocument/2006/relationships/image" Target="../media/image63.png"/><Relationship Id="rId9" Type="http://schemas.openxmlformats.org/officeDocument/2006/relationships/image" Target="../media/image6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png"/><Relationship Id="rId5" Type="http://schemas.openxmlformats.org/officeDocument/2006/relationships/image" Target="../media/image73.svg"/><Relationship Id="rId4" Type="http://schemas.openxmlformats.org/officeDocument/2006/relationships/image" Target="../media/image7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3" Type="http://schemas.microsoft.com/office/2007/relationships/media" Target="../media/media5.mp4"/><Relationship Id="rId7" Type="http://schemas.openxmlformats.org/officeDocument/2006/relationships/image" Target="../media/image78.png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6" Type="http://schemas.openxmlformats.org/officeDocument/2006/relationships/image" Target="../media/image77.png"/><Relationship Id="rId5" Type="http://schemas.openxmlformats.org/officeDocument/2006/relationships/slideLayout" Target="../slideLayouts/slideLayout7.xml"/><Relationship Id="rId4" Type="http://schemas.openxmlformats.org/officeDocument/2006/relationships/video" Target="../media/media5.mp4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2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6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3" Type="http://schemas.openxmlformats.org/officeDocument/2006/relationships/image" Target="../media/image88.png"/><Relationship Id="rId7" Type="http://schemas.openxmlformats.org/officeDocument/2006/relationships/image" Target="../media/image92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slide" Target="slide22.xml"/><Relationship Id="rId3" Type="http://schemas.openxmlformats.org/officeDocument/2006/relationships/image" Target="../media/image94.png"/><Relationship Id="rId7" Type="http://schemas.openxmlformats.org/officeDocument/2006/relationships/image" Target="../media/image96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5.png"/><Relationship Id="rId5" Type="http://schemas.openxmlformats.org/officeDocument/2006/relationships/slide" Target="slide21.xml"/><Relationship Id="rId4" Type="http://schemas.openxmlformats.org/officeDocument/2006/relationships/image" Target="../media/image95.png"/><Relationship Id="rId9" Type="http://schemas.openxmlformats.org/officeDocument/2006/relationships/image" Target="../media/image9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0.png"/><Relationship Id="rId4" Type="http://schemas.openxmlformats.org/officeDocument/2006/relationships/image" Target="../media/image9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25.xml"/><Relationship Id="rId7" Type="http://schemas.openxmlformats.org/officeDocument/2006/relationships/image" Target="../media/image104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3.png"/><Relationship Id="rId5" Type="http://schemas.openxmlformats.org/officeDocument/2006/relationships/image" Target="../media/image102.png"/><Relationship Id="rId4" Type="http://schemas.openxmlformats.org/officeDocument/2006/relationships/image" Target="../media/image10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2273057-5E45-4BA3-8691-5508DA040D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9889" y="2096465"/>
            <a:ext cx="1468121" cy="1468121"/>
          </a:xfrm>
          <a:prstGeom prst="roundRect">
            <a:avLst>
              <a:gd name="adj" fmla="val 20094"/>
            </a:avLst>
          </a:prstGeom>
        </p:spPr>
      </p:pic>
      <p:grpSp>
        <p:nvGrpSpPr>
          <p:cNvPr id="8" name="组合 7">
            <a:extLst>
              <a:ext uri="{FF2B5EF4-FFF2-40B4-BE49-F238E27FC236}">
                <a16:creationId xmlns:a16="http://schemas.microsoft.com/office/drawing/2014/main" id="{9B21F27F-4221-46B6-800C-5F13068B07C1}"/>
              </a:ext>
            </a:extLst>
          </p:cNvPr>
          <p:cNvGrpSpPr/>
          <p:nvPr/>
        </p:nvGrpSpPr>
        <p:grpSpPr>
          <a:xfrm>
            <a:off x="4763386" y="5499492"/>
            <a:ext cx="2237745" cy="493022"/>
            <a:chOff x="5109207" y="5750248"/>
            <a:chExt cx="2237745" cy="493022"/>
          </a:xfrm>
        </p:grpSpPr>
        <p:pic>
          <p:nvPicPr>
            <p:cNvPr id="4" name="Picture 2" descr="C:\Users\潘宗海\Desktop\桌面备份\logo.png">
              <a:extLst>
                <a:ext uri="{FF2B5EF4-FFF2-40B4-BE49-F238E27FC236}">
                  <a16:creationId xmlns:a16="http://schemas.microsoft.com/office/drawing/2014/main" id="{E8355213-F28B-4700-9463-BA80F80E443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445"/>
            <a:stretch/>
          </p:blipFill>
          <p:spPr bwMode="auto">
            <a:xfrm>
              <a:off x="5109207" y="5764053"/>
              <a:ext cx="2237745" cy="4639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2" descr="C:\Users\潘宗海\Desktop\桌面备份\logo.png">
              <a:extLst>
                <a:ext uri="{FF2B5EF4-FFF2-40B4-BE49-F238E27FC236}">
                  <a16:creationId xmlns:a16="http://schemas.microsoft.com/office/drawing/2014/main" id="{2123AB23-2538-481D-96EA-4ED390B87E8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3626"/>
            <a:stretch/>
          </p:blipFill>
          <p:spPr bwMode="auto">
            <a:xfrm>
              <a:off x="5109207" y="5750248"/>
              <a:ext cx="1065532" cy="4930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9" name="Picture 4">
            <a:extLst>
              <a:ext uri="{FF2B5EF4-FFF2-40B4-BE49-F238E27FC236}">
                <a16:creationId xmlns:a16="http://schemas.microsoft.com/office/drawing/2014/main" id="{AC49E7D8-042C-4348-AD2B-5AE977289E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899" y="2070076"/>
            <a:ext cx="1330114" cy="1494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C3CC4CEE-87AF-405F-9D89-034C28767D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4699" y="2505125"/>
            <a:ext cx="542925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3DFED10-08A7-4E06-8015-53AFCC836F11}"/>
              </a:ext>
            </a:extLst>
          </p:cNvPr>
          <p:cNvSpPr txBox="1"/>
          <p:nvPr/>
        </p:nvSpPr>
        <p:spPr>
          <a:xfrm>
            <a:off x="3971925" y="2152766"/>
            <a:ext cx="3962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dirty="0">
                <a:solidFill>
                  <a:schemeClr val="bg1"/>
                </a:solidFill>
              </a:rPr>
              <a:t>小白练手之经典小游戏</a:t>
            </a: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DDF93120-5FC8-4C31-A125-A85C6C6B8191}"/>
              </a:ext>
            </a:extLst>
          </p:cNvPr>
          <p:cNvCxnSpPr>
            <a:cxnSpLocks/>
          </p:cNvCxnSpPr>
          <p:nvPr/>
        </p:nvCxnSpPr>
        <p:spPr>
          <a:xfrm>
            <a:off x="3893013" y="2545461"/>
            <a:ext cx="4116876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9A2C558B-83F7-4409-B69A-63EA669756A1}"/>
              </a:ext>
            </a:extLst>
          </p:cNvPr>
          <p:cNvSpPr txBox="1"/>
          <p:nvPr/>
        </p:nvSpPr>
        <p:spPr>
          <a:xfrm>
            <a:off x="4419197" y="4570312"/>
            <a:ext cx="30645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400" b="1" dirty="0">
                <a:solidFill>
                  <a:schemeClr val="bg1"/>
                </a:solidFill>
              </a:rPr>
              <a:t>项目实训</a:t>
            </a:r>
          </a:p>
        </p:txBody>
      </p:sp>
    </p:spTree>
    <p:extLst>
      <p:ext uri="{BB962C8B-B14F-4D97-AF65-F5344CB8AC3E}">
        <p14:creationId xmlns:p14="http://schemas.microsoft.com/office/powerpoint/2010/main" val="2747879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48D18639-AA5F-49E2-B722-61D74AEB32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00" r="27600" b="2741"/>
          <a:stretch/>
        </p:blipFill>
        <p:spPr bwMode="auto">
          <a:xfrm>
            <a:off x="9687953" y="1962454"/>
            <a:ext cx="1911245" cy="3136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601AE6CA-8084-429A-A0E2-D0AAAD45D9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4131" y="1962454"/>
            <a:ext cx="2358651" cy="1845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344DD260-3AC2-48E5-BF0B-D75C3AF16F3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470" b="-1"/>
          <a:stretch/>
        </p:blipFill>
        <p:spPr>
          <a:xfrm>
            <a:off x="7093201" y="3911745"/>
            <a:ext cx="2304799" cy="1187001"/>
          </a:xfrm>
          <a:prstGeom prst="rect">
            <a:avLst/>
          </a:prstGeom>
        </p:spPr>
      </p:pic>
      <p:pic>
        <p:nvPicPr>
          <p:cNvPr id="2060" name="Picture 12">
            <a:extLst>
              <a:ext uri="{FF2B5EF4-FFF2-40B4-BE49-F238E27FC236}">
                <a16:creationId xmlns:a16="http://schemas.microsoft.com/office/drawing/2014/main" id="{7393C434-3788-47B6-AF9D-74141F50EB13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264" y="1682750"/>
            <a:ext cx="6086475" cy="3695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>
            <a:extLst>
              <a:ext uri="{FF2B5EF4-FFF2-40B4-BE49-F238E27FC236}">
                <a16:creationId xmlns:a16="http://schemas.microsoft.com/office/drawing/2014/main" id="{0780D43C-2EEA-449A-93DF-6E34934586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99" t="9481" r="8016" b="10713"/>
          <a:stretch/>
        </p:blipFill>
        <p:spPr bwMode="auto">
          <a:xfrm>
            <a:off x="2325106" y="5106201"/>
            <a:ext cx="1925321" cy="1270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4711DCEF-3B2D-4BC1-AD5D-E15269E3EE29}"/>
              </a:ext>
            </a:extLst>
          </p:cNvPr>
          <p:cNvSpPr txBox="1"/>
          <p:nvPr/>
        </p:nvSpPr>
        <p:spPr>
          <a:xfrm>
            <a:off x="2511462" y="1319540"/>
            <a:ext cx="18900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0" i="0" dirty="0">
                <a:solidFill>
                  <a:schemeClr val="bg1"/>
                </a:solidFill>
                <a:effectLst/>
                <a:latin typeface="Helvetica Neue"/>
              </a:rPr>
              <a:t>1984</a:t>
            </a:r>
            <a:r>
              <a:rPr lang="zh-CN" altLang="en-US" sz="2800" b="0" i="0" dirty="0">
                <a:solidFill>
                  <a:schemeClr val="bg1"/>
                </a:solidFill>
                <a:effectLst/>
                <a:latin typeface="Helvetica Neue"/>
              </a:rPr>
              <a:t>年</a:t>
            </a:r>
            <a:r>
              <a:rPr lang="en-US" altLang="zh-CN" sz="2800" b="0" i="0" dirty="0">
                <a:solidFill>
                  <a:schemeClr val="bg1"/>
                </a:solidFill>
                <a:effectLst/>
                <a:latin typeface="Helvetica Neue"/>
              </a:rPr>
              <a:t>6</a:t>
            </a:r>
            <a:r>
              <a:rPr lang="zh-CN" altLang="en-US" sz="2800" b="0" i="0" dirty="0">
                <a:solidFill>
                  <a:schemeClr val="bg1"/>
                </a:solidFill>
                <a:effectLst/>
                <a:latin typeface="Helvetica Neue"/>
              </a:rPr>
              <a:t>月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4568347-E15E-47C0-9262-CB908F2B6D9C}"/>
              </a:ext>
            </a:extLst>
          </p:cNvPr>
          <p:cNvSpPr txBox="1"/>
          <p:nvPr/>
        </p:nvSpPr>
        <p:spPr>
          <a:xfrm>
            <a:off x="6979920" y="5276850"/>
            <a:ext cx="46192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zh-CN" altLang="en-US" sz="2400" b="0" i="0" dirty="0">
                <a:solidFill>
                  <a:schemeClr val="bg1"/>
                </a:solidFill>
                <a:effectLst/>
                <a:latin typeface="PingFang SC"/>
              </a:rPr>
              <a:t>历史上销量最高的游戏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0889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7F31D6C7-9C1E-4F9F-B14D-DA2FC866A7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440" y="1415415"/>
            <a:ext cx="5334000" cy="2990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47D40F89-3074-4CB8-AFC9-43EA16A109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3440" y="1415415"/>
            <a:ext cx="5334000" cy="2990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596EE7B3-BC96-40AC-AAE0-AD1B3BF9D97A}"/>
              </a:ext>
            </a:extLst>
          </p:cNvPr>
          <p:cNvSpPr txBox="1"/>
          <p:nvPr/>
        </p:nvSpPr>
        <p:spPr>
          <a:xfrm>
            <a:off x="731520" y="4591926"/>
            <a:ext cx="10535920" cy="968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0" i="0" dirty="0">
                <a:solidFill>
                  <a:schemeClr val="bg1"/>
                </a:solidFill>
                <a:effectLst/>
                <a:latin typeface="-apple-system"/>
              </a:rPr>
              <a:t>俄罗斯方块（</a:t>
            </a:r>
            <a:r>
              <a:rPr lang="en-US" altLang="zh-CN" sz="2000" b="0" i="0" dirty="0">
                <a:solidFill>
                  <a:schemeClr val="bg1"/>
                </a:solidFill>
                <a:effectLst/>
                <a:latin typeface="-apple-system"/>
              </a:rPr>
              <a:t>тетрис</a:t>
            </a:r>
            <a:r>
              <a:rPr lang="zh-CN" altLang="en-US" sz="2000" b="0" i="0" dirty="0">
                <a:solidFill>
                  <a:schemeClr val="bg1"/>
                </a:solidFill>
                <a:effectLst/>
                <a:latin typeface="-apple-system"/>
              </a:rPr>
              <a:t>）是由前苏联程序员阿列克谢</a:t>
            </a:r>
            <a:r>
              <a:rPr lang="en-US" altLang="zh-CN" sz="2000" b="0" i="0" dirty="0">
                <a:solidFill>
                  <a:schemeClr val="bg1"/>
                </a:solidFill>
                <a:effectLst/>
                <a:latin typeface="-apple-system"/>
              </a:rPr>
              <a:t>·</a:t>
            </a:r>
            <a:r>
              <a:rPr lang="zh-CN" altLang="en-US" sz="2000" b="0" i="0" dirty="0">
                <a:solidFill>
                  <a:schemeClr val="bg1"/>
                </a:solidFill>
                <a:effectLst/>
                <a:latin typeface="-apple-system"/>
              </a:rPr>
              <a:t>帕基特诺夫（</a:t>
            </a:r>
            <a:r>
              <a:rPr lang="en-US" altLang="zh-CN" sz="2000" b="0" i="0" dirty="0">
                <a:solidFill>
                  <a:schemeClr val="bg1"/>
                </a:solidFill>
                <a:effectLst/>
                <a:latin typeface="-apple-system"/>
              </a:rPr>
              <a:t>Алексей Пажитнов</a:t>
            </a:r>
            <a:r>
              <a:rPr lang="zh-CN" altLang="en-US" sz="2000" b="0" i="0" dirty="0">
                <a:solidFill>
                  <a:schemeClr val="bg1"/>
                </a:solidFill>
                <a:effectLst/>
                <a:latin typeface="-apple-system"/>
              </a:rPr>
              <a:t>）发明的，</a:t>
            </a:r>
            <a:endParaRPr lang="en-US" altLang="zh-CN" sz="2000" b="0" i="0" dirty="0">
              <a:solidFill>
                <a:schemeClr val="bg1"/>
              </a:solidFill>
              <a:effectLst/>
              <a:latin typeface="-apple-system"/>
            </a:endParaRPr>
          </a:p>
          <a:p>
            <a:pPr>
              <a:lnSpc>
                <a:spcPct val="150000"/>
              </a:lnSpc>
            </a:pPr>
            <a:r>
              <a:rPr lang="zh-CN" altLang="en-US" sz="2000" b="0" i="0" dirty="0">
                <a:solidFill>
                  <a:schemeClr val="bg1"/>
                </a:solidFill>
                <a:effectLst/>
                <a:latin typeface="-apple-system"/>
              </a:rPr>
              <a:t>而且仅仅只用了两周的时间。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0844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38C0683-A9F0-4BCE-B4EB-37E1C3733179}"/>
              </a:ext>
            </a:extLst>
          </p:cNvPr>
          <p:cNvSpPr txBox="1"/>
          <p:nvPr/>
        </p:nvSpPr>
        <p:spPr>
          <a:xfrm>
            <a:off x="3928333" y="1371211"/>
            <a:ext cx="5929828" cy="35874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zh-CN" altLang="en-US" sz="3200" dirty="0">
                <a:solidFill>
                  <a:schemeClr val="bg1"/>
                </a:solidFill>
              </a:rPr>
              <a:t>使用调试器理解代码执行原理</a:t>
            </a:r>
            <a:endParaRPr lang="en-US" altLang="zh-CN" sz="3200" dirty="0">
              <a:solidFill>
                <a:schemeClr val="bg1"/>
              </a:solidFill>
            </a:endParaRPr>
          </a:p>
          <a:p>
            <a:pPr>
              <a:lnSpc>
                <a:spcPct val="250000"/>
              </a:lnSpc>
            </a:pPr>
            <a:r>
              <a:rPr lang="zh-CN" altLang="en-US" sz="3200" dirty="0">
                <a:solidFill>
                  <a:schemeClr val="bg1"/>
                </a:solidFill>
              </a:rPr>
              <a:t>熟练使用基于</a:t>
            </a:r>
            <a:r>
              <a:rPr lang="en-US" altLang="zh-CN" sz="3200" dirty="0">
                <a:solidFill>
                  <a:schemeClr val="bg1"/>
                </a:solidFill>
              </a:rPr>
              <a:t>easy</a:t>
            </a:r>
            <a:r>
              <a:rPr lang="zh-CN" altLang="en-US" sz="3200" dirty="0">
                <a:solidFill>
                  <a:schemeClr val="bg1"/>
                </a:solidFill>
              </a:rPr>
              <a:t>的游戏框架</a:t>
            </a:r>
            <a:endParaRPr lang="en-US" altLang="zh-CN" sz="3200" dirty="0">
              <a:solidFill>
                <a:schemeClr val="bg1"/>
              </a:solidFill>
            </a:endParaRPr>
          </a:p>
          <a:p>
            <a:pPr>
              <a:lnSpc>
                <a:spcPct val="250000"/>
              </a:lnSpc>
            </a:pPr>
            <a:r>
              <a:rPr lang="zh-CN" altLang="en-US" sz="3200" dirty="0">
                <a:solidFill>
                  <a:schemeClr val="bg1"/>
                </a:solidFill>
              </a:rPr>
              <a:t>运用</a:t>
            </a:r>
            <a:r>
              <a:rPr lang="en-US" altLang="zh-CN" sz="3200" dirty="0">
                <a:solidFill>
                  <a:schemeClr val="bg1"/>
                </a:solidFill>
              </a:rPr>
              <a:t>UML</a:t>
            </a:r>
            <a:r>
              <a:rPr lang="zh-CN" altLang="en-US" sz="3200" dirty="0">
                <a:solidFill>
                  <a:schemeClr val="bg1"/>
                </a:solidFill>
              </a:rPr>
              <a:t>用例驱动思想分析需求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A7BBFC3-33F8-4AEE-96E5-E2071068C831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2683145" y="3164940"/>
            <a:ext cx="1133676" cy="487480"/>
          </a:xfrm>
          <a:prstGeom prst="rect">
            <a:avLst/>
          </a:prstGeom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6920B4DA-D5F6-45D2-B035-F072F0EAA3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5874" y="1648256"/>
            <a:ext cx="1019810" cy="1019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BB08B017-4482-42CC-89A0-50738C1693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439"/>
          <a:stretch/>
        </p:blipFill>
        <p:spPr bwMode="auto">
          <a:xfrm>
            <a:off x="2735356" y="4082702"/>
            <a:ext cx="820328" cy="1001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76864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6903AE3B-7F14-4EB1-A282-520E0AEDC1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" y="0"/>
            <a:ext cx="12191998" cy="6818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C97B323C-62F7-41CD-AAC3-C01A716775A6}"/>
              </a:ext>
            </a:extLst>
          </p:cNvPr>
          <p:cNvSpPr txBox="1"/>
          <p:nvPr/>
        </p:nvSpPr>
        <p:spPr>
          <a:xfrm>
            <a:off x="529954" y="5553956"/>
            <a:ext cx="442975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编程语言闯三关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380FD30-3AC7-487F-97C6-45148E6D7F7F}"/>
              </a:ext>
            </a:extLst>
          </p:cNvPr>
          <p:cNvSpPr txBox="1"/>
          <p:nvPr/>
        </p:nvSpPr>
        <p:spPr>
          <a:xfrm rot="1311657">
            <a:off x="7585562" y="4786976"/>
            <a:ext cx="13309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>
                <a:solidFill>
                  <a:schemeClr val="bg1"/>
                </a:solidFill>
              </a:rPr>
              <a:t>语法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3622ADA-B6C3-4F50-8633-E4F40D73F1AF}"/>
              </a:ext>
            </a:extLst>
          </p:cNvPr>
          <p:cNvSpPr txBox="1"/>
          <p:nvPr/>
        </p:nvSpPr>
        <p:spPr>
          <a:xfrm rot="868505">
            <a:off x="3200399" y="1618774"/>
            <a:ext cx="13309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>
                <a:solidFill>
                  <a:schemeClr val="bg1"/>
                </a:solidFill>
              </a:rPr>
              <a:t>语用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E8CFA25-0313-495D-9E43-80CD6A52FB95}"/>
              </a:ext>
            </a:extLst>
          </p:cNvPr>
          <p:cNvSpPr txBox="1"/>
          <p:nvPr/>
        </p:nvSpPr>
        <p:spPr>
          <a:xfrm rot="1384465">
            <a:off x="5430520" y="3896824"/>
            <a:ext cx="13309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>
                <a:solidFill>
                  <a:schemeClr val="bg1"/>
                </a:solidFill>
              </a:rPr>
              <a:t>语义</a:t>
            </a:r>
          </a:p>
        </p:txBody>
      </p:sp>
      <p:sp>
        <p:nvSpPr>
          <p:cNvPr id="11" name="对话气泡: 椭圆形 10">
            <a:extLst>
              <a:ext uri="{FF2B5EF4-FFF2-40B4-BE49-F238E27FC236}">
                <a16:creationId xmlns:a16="http://schemas.microsoft.com/office/drawing/2014/main" id="{3B0BC5F3-157B-4C13-AE12-2BACDD4530CC}"/>
              </a:ext>
            </a:extLst>
          </p:cNvPr>
          <p:cNvSpPr/>
          <p:nvPr/>
        </p:nvSpPr>
        <p:spPr>
          <a:xfrm>
            <a:off x="7892078" y="3242344"/>
            <a:ext cx="2082800" cy="1391106"/>
          </a:xfrm>
          <a:prstGeom prst="wedgeEllipseCallout">
            <a:avLst>
              <a:gd name="adj1" fmla="val -33028"/>
              <a:gd name="adj2" fmla="val 6103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</a:rPr>
              <a:t>方便的</a:t>
            </a:r>
            <a:r>
              <a:rPr lang="en-US" altLang="zh-CN" sz="2000" b="1" dirty="0">
                <a:solidFill>
                  <a:schemeClr val="tx1"/>
                </a:solidFill>
              </a:rPr>
              <a:t>IDE</a:t>
            </a:r>
            <a:r>
              <a:rPr lang="zh-CN" altLang="en-US" sz="2000" b="1" dirty="0">
                <a:solidFill>
                  <a:schemeClr val="tx1"/>
                </a:solidFill>
              </a:rPr>
              <a:t>能快速适应</a:t>
            </a:r>
          </a:p>
        </p:txBody>
      </p:sp>
      <p:sp>
        <p:nvSpPr>
          <p:cNvPr id="16" name="对话气泡: 椭圆形 15">
            <a:extLst>
              <a:ext uri="{FF2B5EF4-FFF2-40B4-BE49-F238E27FC236}">
                <a16:creationId xmlns:a16="http://schemas.microsoft.com/office/drawing/2014/main" id="{AD9A17EE-EB02-4383-9DC7-11C54E3153CD}"/>
              </a:ext>
            </a:extLst>
          </p:cNvPr>
          <p:cNvSpPr/>
          <p:nvPr/>
        </p:nvSpPr>
        <p:spPr>
          <a:xfrm>
            <a:off x="5518557" y="2286074"/>
            <a:ext cx="2082800" cy="1391106"/>
          </a:xfrm>
          <a:prstGeom prst="wedgeEllipseCallout">
            <a:avLst>
              <a:gd name="adj1" fmla="val -29126"/>
              <a:gd name="adj2" fmla="val 676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</a:rPr>
              <a:t>基本语素的执行原理</a:t>
            </a:r>
          </a:p>
        </p:txBody>
      </p:sp>
      <p:sp>
        <p:nvSpPr>
          <p:cNvPr id="17" name="对话气泡: 椭圆形 16">
            <a:extLst>
              <a:ext uri="{FF2B5EF4-FFF2-40B4-BE49-F238E27FC236}">
                <a16:creationId xmlns:a16="http://schemas.microsoft.com/office/drawing/2014/main" id="{C06F070A-345A-49B1-B83E-A7D9DBCCC351}"/>
              </a:ext>
            </a:extLst>
          </p:cNvPr>
          <p:cNvSpPr/>
          <p:nvPr/>
        </p:nvSpPr>
        <p:spPr>
          <a:xfrm>
            <a:off x="3446524" y="355834"/>
            <a:ext cx="2395476" cy="1229523"/>
          </a:xfrm>
          <a:prstGeom prst="wedgeEllipseCallout">
            <a:avLst>
              <a:gd name="adj1" fmla="val -32584"/>
              <a:gd name="adj2" fmla="val 5884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应用场景</a:t>
            </a:r>
            <a:endParaRPr lang="en-US" altLang="zh-CN" b="1" dirty="0">
              <a:solidFill>
                <a:schemeClr val="tx1"/>
              </a:solidFill>
            </a:endParaRPr>
          </a:p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竞赛</a:t>
            </a:r>
            <a:r>
              <a:rPr lang="en-US" altLang="zh-CN" b="1" dirty="0">
                <a:solidFill>
                  <a:schemeClr val="tx1"/>
                </a:solidFill>
              </a:rPr>
              <a:t>·</a:t>
            </a:r>
            <a:r>
              <a:rPr lang="zh-CN" altLang="en-US" b="1" dirty="0">
                <a:solidFill>
                  <a:schemeClr val="tx1"/>
                </a:solidFill>
              </a:rPr>
              <a:t>项目</a:t>
            </a:r>
            <a:r>
              <a:rPr lang="en-US" altLang="zh-CN" b="1" dirty="0">
                <a:solidFill>
                  <a:schemeClr val="tx1"/>
                </a:solidFill>
              </a:rPr>
              <a:t>·</a:t>
            </a:r>
            <a:r>
              <a:rPr lang="zh-CN" altLang="en-US" b="1" dirty="0">
                <a:solidFill>
                  <a:schemeClr val="tx1"/>
                </a:solidFill>
              </a:rPr>
              <a:t>应试</a:t>
            </a:r>
          </a:p>
        </p:txBody>
      </p:sp>
    </p:spTree>
    <p:extLst>
      <p:ext uri="{BB962C8B-B14F-4D97-AF65-F5344CB8AC3E}">
        <p14:creationId xmlns:p14="http://schemas.microsoft.com/office/powerpoint/2010/main" val="219965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  <p:bldP spid="14" grpId="0"/>
      <p:bldP spid="11" grpId="0" animBg="1"/>
      <p:bldP spid="16" grpId="0" animBg="1"/>
      <p:bldP spid="1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>
            <a:extLst>
              <a:ext uri="{FF2B5EF4-FFF2-40B4-BE49-F238E27FC236}">
                <a16:creationId xmlns:a16="http://schemas.microsoft.com/office/drawing/2014/main" id="{69DDA834-2508-49E9-9B05-00388A8534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grayscl/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8833"/>
          <a:stretch/>
        </p:blipFill>
        <p:spPr bwMode="auto">
          <a:xfrm>
            <a:off x="22878" y="-1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051D86B8-1A38-4603-B0B6-12DB89BB3A43}"/>
              </a:ext>
            </a:extLst>
          </p:cNvPr>
          <p:cNvSpPr txBox="1"/>
          <p:nvPr/>
        </p:nvSpPr>
        <p:spPr>
          <a:xfrm>
            <a:off x="2943059" y="2139742"/>
            <a:ext cx="39759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3200" dirty="0">
                <a:solidFill>
                  <a:schemeClr val="bg1"/>
                </a:solidFill>
              </a:rPr>
              <a:t>工科精神</a:t>
            </a:r>
            <a:r>
              <a:rPr lang="en-US" altLang="zh-CN" sz="3200" dirty="0">
                <a:solidFill>
                  <a:schemeClr val="bg1"/>
                </a:solidFill>
              </a:rPr>
              <a:t>·</a:t>
            </a:r>
            <a:r>
              <a:rPr lang="zh-CN" altLang="en-US" sz="3200" dirty="0">
                <a:solidFill>
                  <a:schemeClr val="bg1"/>
                </a:solidFill>
              </a:rPr>
              <a:t>工程思维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4D05FA3-8F8E-497C-B970-D5EFED0882BD}"/>
              </a:ext>
            </a:extLst>
          </p:cNvPr>
          <p:cNvSpPr txBox="1"/>
          <p:nvPr/>
        </p:nvSpPr>
        <p:spPr>
          <a:xfrm>
            <a:off x="1797164" y="2370441"/>
            <a:ext cx="1239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>
                <a:solidFill>
                  <a:schemeClr val="bg1"/>
                </a:solidFill>
              </a:rPr>
              <a:t>What’s the</a:t>
            </a:r>
            <a:endParaRPr lang="zh-CN" altLang="en-US" i="1" dirty="0">
              <a:solidFill>
                <a:schemeClr val="bg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C2E0DEC-1BD7-49D8-B627-F53F455549EA}"/>
              </a:ext>
            </a:extLst>
          </p:cNvPr>
          <p:cNvSpPr txBox="1"/>
          <p:nvPr/>
        </p:nvSpPr>
        <p:spPr>
          <a:xfrm>
            <a:off x="1264727" y="2555107"/>
            <a:ext cx="585461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2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Just do it ! </a:t>
            </a:r>
            <a:endParaRPr lang="zh-CN" altLang="en-US" sz="7200" b="1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F506A590-10DA-4DA8-A054-07170FB79D24}"/>
              </a:ext>
            </a:extLst>
          </p:cNvPr>
          <p:cNvGrpSpPr/>
          <p:nvPr/>
        </p:nvGrpSpPr>
        <p:grpSpPr>
          <a:xfrm>
            <a:off x="1420837" y="3619876"/>
            <a:ext cx="8956691" cy="1869697"/>
            <a:chOff x="1420837" y="3619876"/>
            <a:chExt cx="8956691" cy="1869697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6DA6DB87-0CB2-4B92-9A01-DC7C4A631C6E}"/>
                </a:ext>
              </a:extLst>
            </p:cNvPr>
            <p:cNvGrpSpPr/>
            <p:nvPr/>
          </p:nvGrpSpPr>
          <p:grpSpPr>
            <a:xfrm>
              <a:off x="5257996" y="3619876"/>
              <a:ext cx="5119532" cy="1869697"/>
              <a:chOff x="5257996" y="3619876"/>
              <a:chExt cx="5119532" cy="1869697"/>
            </a:xfrm>
          </p:grpSpPr>
          <p:pic>
            <p:nvPicPr>
              <p:cNvPr id="9" name="Picture 2">
                <a:extLst>
                  <a:ext uri="{FF2B5EF4-FFF2-40B4-BE49-F238E27FC236}">
                    <a16:creationId xmlns:a16="http://schemas.microsoft.com/office/drawing/2014/main" id="{A5D1FD89-EF5C-4AE3-BB1D-3849E651A31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119343" y="3619876"/>
                <a:ext cx="3258185" cy="1869697"/>
              </a:xfrm>
              <a:prstGeom prst="rect">
                <a:avLst/>
              </a:prstGeom>
              <a:solidFill>
                <a:srgbClr val="FFFFFF">
                  <a:shade val="85000"/>
                </a:srgbClr>
              </a:solidFill>
              <a:ln w="101600" cap="sq">
                <a:solidFill>
                  <a:srgbClr val="FDFDFD"/>
                </a:solidFill>
                <a:miter lim="800000"/>
              </a:ln>
              <a:effectLst>
                <a:outerShdw blurRad="57150" dist="37500" dir="7560000" sy="98000" kx="110000" ky="200000" algn="tl" rotWithShape="0">
                  <a:srgbClr val="000000">
                    <a:alpha val="20000"/>
                  </a:srgbClr>
                </a:outerShdw>
              </a:effectLst>
              <a:scene3d>
                <a:camera prst="perspectiveRelaxed">
                  <a:rot lat="18960000" lon="0" rev="0"/>
                </a:camera>
                <a:lightRig rig="twoPt" dir="t">
                  <a:rot lat="0" lon="0" rev="7200000"/>
                </a:lightRig>
              </a:scene3d>
              <a:sp3d prstMaterial="matte">
                <a:bevelT w="22860" h="12700"/>
                <a:contourClr>
                  <a:srgbClr val="FFFFFF"/>
                </a:contourClr>
              </a:sp3d>
            </p:spPr>
          </p:pic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491250DE-A135-4735-802C-B36E74E8619A}"/>
                  </a:ext>
                </a:extLst>
              </p:cNvPr>
              <p:cNvSpPr txBox="1"/>
              <p:nvPr/>
            </p:nvSpPr>
            <p:spPr>
              <a:xfrm>
                <a:off x="5257996" y="4925816"/>
                <a:ext cx="166103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dirty="0">
                    <a:solidFill>
                      <a:schemeClr val="bg1"/>
                    </a:solidFill>
                  </a:rPr>
                  <a:t>——</a:t>
                </a:r>
                <a:r>
                  <a:rPr lang="zh-CN" altLang="en-US" sz="1400" dirty="0">
                    <a:solidFill>
                      <a:schemeClr val="bg1"/>
                    </a:solidFill>
                  </a:rPr>
                  <a:t>安娜</a:t>
                </a:r>
                <a:r>
                  <a:rPr lang="en-US" altLang="zh-CN" sz="1400" dirty="0">
                    <a:solidFill>
                      <a:schemeClr val="bg1"/>
                    </a:solidFill>
                  </a:rPr>
                  <a:t>·</a:t>
                </a:r>
                <a:r>
                  <a:rPr lang="zh-CN" altLang="en-US" sz="1400" dirty="0">
                    <a:solidFill>
                      <a:schemeClr val="bg1"/>
                    </a:solidFill>
                  </a:rPr>
                  <a:t>基森霍夫</a:t>
                </a:r>
              </a:p>
            </p:txBody>
          </p:sp>
        </p:grpSp>
        <p:pic>
          <p:nvPicPr>
            <p:cNvPr id="8" name="Picture 4">
              <a:extLst>
                <a:ext uri="{FF2B5EF4-FFF2-40B4-BE49-F238E27FC236}">
                  <a16:creationId xmlns:a16="http://schemas.microsoft.com/office/drawing/2014/main" id="{53E5EB94-5233-414B-9585-4378936439F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20837" y="4109085"/>
              <a:ext cx="5830586" cy="5830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928123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F7A1028-FDCF-4727-B901-1B58C3077EF9}"/>
              </a:ext>
            </a:extLst>
          </p:cNvPr>
          <p:cNvSpPr txBox="1"/>
          <p:nvPr/>
        </p:nvSpPr>
        <p:spPr>
          <a:xfrm>
            <a:off x="1335386" y="1323615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b="1" dirty="0">
                <a:solidFill>
                  <a:schemeClr val="bg1"/>
                </a:solidFill>
              </a:rPr>
              <a:t>游戏框架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9E40900-81DD-40E0-AE9B-46382C1D2BB5}"/>
              </a:ext>
            </a:extLst>
          </p:cNvPr>
          <p:cNvSpPr txBox="1"/>
          <p:nvPr/>
        </p:nvSpPr>
        <p:spPr>
          <a:xfrm>
            <a:off x="1335386" y="2053012"/>
            <a:ext cx="26468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400" i="1" dirty="0">
                <a:solidFill>
                  <a:schemeClr val="bg1"/>
                </a:solidFill>
              </a:rPr>
              <a:t>Game framework</a:t>
            </a:r>
            <a:endParaRPr lang="zh-CN" altLang="en-US" sz="2400" i="1" dirty="0">
              <a:solidFill>
                <a:schemeClr val="bg1"/>
              </a:solidFill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1F69A91A-2CD4-4033-BD09-5660567CBF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56" r="21181"/>
          <a:stretch/>
        </p:blipFill>
        <p:spPr bwMode="auto">
          <a:xfrm>
            <a:off x="1013748" y="2573896"/>
            <a:ext cx="310896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70C1CC1B-EFB0-4B95-9572-1E0AEF615FB0}"/>
              </a:ext>
            </a:extLst>
          </p:cNvPr>
          <p:cNvGrpSpPr/>
          <p:nvPr/>
        </p:nvGrpSpPr>
        <p:grpSpPr>
          <a:xfrm>
            <a:off x="7123887" y="2492963"/>
            <a:ext cx="1222957" cy="1278337"/>
            <a:chOff x="9026681" y="3765173"/>
            <a:chExt cx="1222957" cy="1278337"/>
          </a:xfrm>
        </p:grpSpPr>
        <p:pic>
          <p:nvPicPr>
            <p:cNvPr id="6" name="图形 5" descr="Alarm clock 纯色填充">
              <a:extLst>
                <a:ext uri="{FF2B5EF4-FFF2-40B4-BE49-F238E27FC236}">
                  <a16:creationId xmlns:a16="http://schemas.microsoft.com/office/drawing/2014/main" id="{23E1C25F-4EA6-41F9-BD74-A7738E5587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180960" y="3765173"/>
              <a:ext cx="914400" cy="914400"/>
            </a:xfrm>
            <a:prstGeom prst="rect">
              <a:avLst/>
            </a:prstGeom>
          </p:spPr>
        </p:pic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808C6436-D472-4FF2-8095-17EEE57872A2}"/>
                </a:ext>
              </a:extLst>
            </p:cNvPr>
            <p:cNvSpPr txBox="1"/>
            <p:nvPr/>
          </p:nvSpPr>
          <p:spPr>
            <a:xfrm flipH="1">
              <a:off x="9026681" y="4643400"/>
              <a:ext cx="122295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chemeClr val="bg1"/>
                  </a:solidFill>
                </a:rPr>
                <a:t>定时处理</a:t>
              </a: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362E5B83-C923-4E00-9E75-96D2DE78B0A2}"/>
              </a:ext>
            </a:extLst>
          </p:cNvPr>
          <p:cNvGrpSpPr/>
          <p:nvPr/>
        </p:nvGrpSpPr>
        <p:grpSpPr>
          <a:xfrm>
            <a:off x="7136097" y="5059429"/>
            <a:ext cx="1351924" cy="1314510"/>
            <a:chOff x="6553200" y="4386255"/>
            <a:chExt cx="1351924" cy="1314510"/>
          </a:xfrm>
        </p:grpSpPr>
        <p:pic>
          <p:nvPicPr>
            <p:cNvPr id="9" name="图形 8" descr="老鼠 纯色填充">
              <a:extLst>
                <a:ext uri="{FF2B5EF4-FFF2-40B4-BE49-F238E27FC236}">
                  <a16:creationId xmlns:a16="http://schemas.microsoft.com/office/drawing/2014/main" id="{BA587411-4A7B-4CC6-9EDF-1E643768044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643997" y="4386255"/>
              <a:ext cx="914400" cy="914400"/>
            </a:xfrm>
            <a:prstGeom prst="rect">
              <a:avLst/>
            </a:prstGeom>
          </p:spPr>
        </p:pic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46966519-1859-4B06-9990-A373B1993CAD}"/>
                </a:ext>
              </a:extLst>
            </p:cNvPr>
            <p:cNvSpPr txBox="1"/>
            <p:nvPr/>
          </p:nvSpPr>
          <p:spPr>
            <a:xfrm flipH="1">
              <a:off x="6553200" y="5300655"/>
              <a:ext cx="135192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chemeClr val="bg1"/>
                  </a:solidFill>
                </a:rPr>
                <a:t>鼠标控制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C8CC10A0-74C2-4414-AFD9-C87D98427696}"/>
              </a:ext>
            </a:extLst>
          </p:cNvPr>
          <p:cNvGrpSpPr/>
          <p:nvPr/>
        </p:nvGrpSpPr>
        <p:grpSpPr>
          <a:xfrm>
            <a:off x="4613272" y="2328776"/>
            <a:ext cx="1351924" cy="1291510"/>
            <a:chOff x="7293962" y="2080400"/>
            <a:chExt cx="1351924" cy="1291510"/>
          </a:xfrm>
        </p:grpSpPr>
        <p:pic>
          <p:nvPicPr>
            <p:cNvPr id="12" name="图形 11" descr="显示器 纯色填充">
              <a:extLst>
                <a:ext uri="{FF2B5EF4-FFF2-40B4-BE49-F238E27FC236}">
                  <a16:creationId xmlns:a16="http://schemas.microsoft.com/office/drawing/2014/main" id="{8AD86EDF-E1AC-4469-B756-17434727443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371214" y="2080400"/>
              <a:ext cx="914400" cy="914400"/>
            </a:xfrm>
            <a:prstGeom prst="rect">
              <a:avLst/>
            </a:prstGeom>
          </p:spPr>
        </p:pic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19D470D2-1C68-47B6-98BA-3E57897F5CE9}"/>
                </a:ext>
              </a:extLst>
            </p:cNvPr>
            <p:cNvSpPr txBox="1"/>
            <p:nvPr/>
          </p:nvSpPr>
          <p:spPr>
            <a:xfrm flipH="1">
              <a:off x="7293962" y="2971800"/>
              <a:ext cx="135192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chemeClr val="bg1"/>
                  </a:solidFill>
                </a:rPr>
                <a:t>绘图显示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DF0F5900-E65D-4278-9FF6-349BDFB1675D}"/>
              </a:ext>
            </a:extLst>
          </p:cNvPr>
          <p:cNvGrpSpPr/>
          <p:nvPr/>
        </p:nvGrpSpPr>
        <p:grpSpPr>
          <a:xfrm>
            <a:off x="7220783" y="280205"/>
            <a:ext cx="1351924" cy="1114455"/>
            <a:chOff x="5475338" y="2971800"/>
            <a:chExt cx="1351924" cy="1114455"/>
          </a:xfrm>
        </p:grpSpPr>
        <p:pic>
          <p:nvPicPr>
            <p:cNvPr id="15" name="图形 14" descr="键盘 纯色填充">
              <a:extLst>
                <a:ext uri="{FF2B5EF4-FFF2-40B4-BE49-F238E27FC236}">
                  <a16:creationId xmlns:a16="http://schemas.microsoft.com/office/drawing/2014/main" id="{A7BCB998-7DDC-4354-A14A-850031CD49C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5577380" y="2971800"/>
              <a:ext cx="914400" cy="914400"/>
            </a:xfrm>
            <a:prstGeom prst="rect">
              <a:avLst/>
            </a:prstGeom>
          </p:spPr>
        </p:pic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55A8A37A-B452-4045-B1F4-836E5F516DFA}"/>
                </a:ext>
              </a:extLst>
            </p:cNvPr>
            <p:cNvSpPr txBox="1"/>
            <p:nvPr/>
          </p:nvSpPr>
          <p:spPr>
            <a:xfrm flipH="1">
              <a:off x="5475338" y="3686145"/>
              <a:ext cx="135192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chemeClr val="bg1"/>
                  </a:solidFill>
                </a:rPr>
                <a:t>键盘控制</a:t>
              </a:r>
            </a:p>
          </p:txBody>
        </p:sp>
      </p:grp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006138D3-D17D-4A7E-B7C9-D28D5E0FD09C}"/>
              </a:ext>
            </a:extLst>
          </p:cNvPr>
          <p:cNvCxnSpPr/>
          <p:nvPr/>
        </p:nvCxnSpPr>
        <p:spPr>
          <a:xfrm>
            <a:off x="4649005" y="1265266"/>
            <a:ext cx="0" cy="412496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12994B20-44EA-4C84-A15A-23D8E4237A95}"/>
              </a:ext>
            </a:extLst>
          </p:cNvPr>
          <p:cNvGrpSpPr/>
          <p:nvPr/>
        </p:nvGrpSpPr>
        <p:grpSpPr>
          <a:xfrm>
            <a:off x="9971078" y="1973288"/>
            <a:ext cx="1841124" cy="2795804"/>
            <a:chOff x="9510170" y="1914417"/>
            <a:chExt cx="1841124" cy="2795804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9909995F-BC6C-4F00-95E0-3EB349F14D44}"/>
                </a:ext>
              </a:extLst>
            </p:cNvPr>
            <p:cNvSpPr/>
            <p:nvPr/>
          </p:nvSpPr>
          <p:spPr>
            <a:xfrm>
              <a:off x="9510170" y="1914417"/>
              <a:ext cx="1841124" cy="2246760"/>
            </a:xfrm>
            <a:prstGeom prst="rect">
              <a:avLst/>
            </a:prstGeom>
            <a:noFill/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06322273-AF78-4F21-8CC7-7D07B33613AC}"/>
                </a:ext>
              </a:extLst>
            </p:cNvPr>
            <p:cNvSpPr txBox="1"/>
            <p:nvPr/>
          </p:nvSpPr>
          <p:spPr>
            <a:xfrm flipH="1">
              <a:off x="9635786" y="4310111"/>
              <a:ext cx="15898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000" b="1" dirty="0">
                  <a:solidFill>
                    <a:schemeClr val="bg1"/>
                  </a:solidFill>
                </a:rPr>
                <a:t>游戏初始化</a:t>
              </a:r>
            </a:p>
          </p:txBody>
        </p:sp>
        <p:sp>
          <p:nvSpPr>
            <p:cNvPr id="21" name="对话气泡: 矩形 20">
              <a:extLst>
                <a:ext uri="{FF2B5EF4-FFF2-40B4-BE49-F238E27FC236}">
                  <a16:creationId xmlns:a16="http://schemas.microsoft.com/office/drawing/2014/main" id="{903DBE6F-DF35-4435-83DC-379BC072059D}"/>
                </a:ext>
              </a:extLst>
            </p:cNvPr>
            <p:cNvSpPr/>
            <p:nvPr/>
          </p:nvSpPr>
          <p:spPr>
            <a:xfrm>
              <a:off x="9752649" y="2145326"/>
              <a:ext cx="1207326" cy="481182"/>
            </a:xfrm>
            <a:prstGeom prst="wedgeRectCallout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/>
                <a:t>时间间隔</a:t>
              </a:r>
            </a:p>
          </p:txBody>
        </p:sp>
        <p:sp>
          <p:nvSpPr>
            <p:cNvPr id="22" name="对话气泡: 矩形 21">
              <a:extLst>
                <a:ext uri="{FF2B5EF4-FFF2-40B4-BE49-F238E27FC236}">
                  <a16:creationId xmlns:a16="http://schemas.microsoft.com/office/drawing/2014/main" id="{B31D3681-2739-4E73-84C5-B076B42E50E1}"/>
                </a:ext>
              </a:extLst>
            </p:cNvPr>
            <p:cNvSpPr/>
            <p:nvPr/>
          </p:nvSpPr>
          <p:spPr>
            <a:xfrm>
              <a:off x="9752649" y="2728196"/>
              <a:ext cx="1207326" cy="481182"/>
            </a:xfrm>
            <a:prstGeom prst="wedgeRectCallout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/>
                <a:t>窗口大小</a:t>
              </a:r>
            </a:p>
          </p:txBody>
        </p:sp>
        <p:sp>
          <p:nvSpPr>
            <p:cNvPr id="23" name="对话气泡: 矩形 22">
              <a:extLst>
                <a:ext uri="{FF2B5EF4-FFF2-40B4-BE49-F238E27FC236}">
                  <a16:creationId xmlns:a16="http://schemas.microsoft.com/office/drawing/2014/main" id="{F78B9784-D868-4F55-97ED-AEFA0364059F}"/>
                </a:ext>
              </a:extLst>
            </p:cNvPr>
            <p:cNvSpPr/>
            <p:nvPr/>
          </p:nvSpPr>
          <p:spPr>
            <a:xfrm>
              <a:off x="9761403" y="3327746"/>
              <a:ext cx="1207326" cy="481182"/>
            </a:xfrm>
            <a:prstGeom prst="wedgeRectCallout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/>
                <a:t>变量赋值</a:t>
              </a:r>
            </a:p>
          </p:txBody>
        </p:sp>
      </p:grpSp>
      <p:pic>
        <p:nvPicPr>
          <p:cNvPr id="24" name="图片 23" descr="人戴着面具&#10;&#10;中度可信度描述已自动生成">
            <a:extLst>
              <a:ext uri="{FF2B5EF4-FFF2-40B4-BE49-F238E27FC236}">
                <a16:creationId xmlns:a16="http://schemas.microsoft.com/office/drawing/2014/main" id="{CCC51303-AC4C-430F-AE7A-7E2C62D65019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353"/>
          <a:stretch/>
        </p:blipFill>
        <p:spPr>
          <a:xfrm>
            <a:off x="630319" y="894080"/>
            <a:ext cx="883251" cy="1258238"/>
          </a:xfrm>
          <a:prstGeom prst="rect">
            <a:avLst/>
          </a:prstGeom>
        </p:spPr>
      </p:pic>
      <p:pic>
        <p:nvPicPr>
          <p:cNvPr id="25" name="图形 24" descr="Back 纯色填充">
            <a:extLst>
              <a:ext uri="{FF2B5EF4-FFF2-40B4-BE49-F238E27FC236}">
                <a16:creationId xmlns:a16="http://schemas.microsoft.com/office/drawing/2014/main" id="{32D246B5-D092-4AF8-AD75-CA7312CF2D3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12572934">
            <a:off x="8816063" y="2777813"/>
            <a:ext cx="1205922" cy="914400"/>
          </a:xfrm>
          <a:prstGeom prst="rect">
            <a:avLst/>
          </a:prstGeom>
        </p:spPr>
      </p:pic>
      <p:sp>
        <p:nvSpPr>
          <p:cNvPr id="26" name="箭头: 上 25">
            <a:extLst>
              <a:ext uri="{FF2B5EF4-FFF2-40B4-BE49-F238E27FC236}">
                <a16:creationId xmlns:a16="http://schemas.microsoft.com/office/drawing/2014/main" id="{B3E6FB2E-18D9-41E5-9A48-1FF8D4390D13}"/>
              </a:ext>
            </a:extLst>
          </p:cNvPr>
          <p:cNvSpPr/>
          <p:nvPr/>
        </p:nvSpPr>
        <p:spPr>
          <a:xfrm>
            <a:off x="7603853" y="1371546"/>
            <a:ext cx="280354" cy="457599"/>
          </a:xfrm>
          <a:prstGeom prst="up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箭头: 上 26">
            <a:extLst>
              <a:ext uri="{FF2B5EF4-FFF2-40B4-BE49-F238E27FC236}">
                <a16:creationId xmlns:a16="http://schemas.microsoft.com/office/drawing/2014/main" id="{62B4F936-9F89-499B-B300-F23A35812B48}"/>
              </a:ext>
            </a:extLst>
          </p:cNvPr>
          <p:cNvSpPr/>
          <p:nvPr/>
        </p:nvSpPr>
        <p:spPr>
          <a:xfrm rot="16200000">
            <a:off x="6029201" y="2726932"/>
            <a:ext cx="280354" cy="556530"/>
          </a:xfrm>
          <a:prstGeom prst="up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箭头: 上 27">
            <a:extLst>
              <a:ext uri="{FF2B5EF4-FFF2-40B4-BE49-F238E27FC236}">
                <a16:creationId xmlns:a16="http://schemas.microsoft.com/office/drawing/2014/main" id="{6AEF7289-ECE2-452B-955F-795DB4BC0730}"/>
              </a:ext>
            </a:extLst>
          </p:cNvPr>
          <p:cNvSpPr/>
          <p:nvPr/>
        </p:nvSpPr>
        <p:spPr>
          <a:xfrm rot="10800000">
            <a:off x="7564100" y="4431195"/>
            <a:ext cx="280354" cy="556530"/>
          </a:xfrm>
          <a:prstGeom prst="up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2E58218-7280-4B85-A8EB-0C922FB1DD8F}"/>
              </a:ext>
            </a:extLst>
          </p:cNvPr>
          <p:cNvSpPr txBox="1"/>
          <p:nvPr/>
        </p:nvSpPr>
        <p:spPr>
          <a:xfrm>
            <a:off x="2158815" y="4062225"/>
            <a:ext cx="1877437" cy="16980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2400" dirty="0">
                <a:solidFill>
                  <a:schemeClr val="bg1"/>
                </a:solidFill>
              </a:rPr>
              <a:t>静态外观</a:t>
            </a:r>
            <a:endParaRPr lang="en-US" altLang="zh-CN" sz="2400" dirty="0">
              <a:solidFill>
                <a:schemeClr val="bg1"/>
              </a:solidFill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2400" dirty="0">
                <a:solidFill>
                  <a:schemeClr val="bg1"/>
                </a:solidFill>
              </a:rPr>
              <a:t>何时变化</a:t>
            </a:r>
            <a:endParaRPr lang="en-US" altLang="zh-CN" sz="2400" dirty="0">
              <a:solidFill>
                <a:schemeClr val="bg1"/>
              </a:solidFill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2400" dirty="0">
                <a:solidFill>
                  <a:schemeClr val="bg1"/>
                </a:solidFill>
              </a:rPr>
              <a:t>如何变化</a:t>
            </a:r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E7DE8BA9-483E-4D49-A1F8-26EB190AA39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618803" y="5989418"/>
            <a:ext cx="1133676" cy="487480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C0D2DCC8-ECFC-4FEE-9936-97747C33BFE3}"/>
              </a:ext>
            </a:extLst>
          </p:cNvPr>
          <p:cNvSpPr txBox="1"/>
          <p:nvPr/>
        </p:nvSpPr>
        <p:spPr>
          <a:xfrm>
            <a:off x="10537082" y="6399962"/>
            <a:ext cx="12153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i="1" dirty="0">
                <a:solidFill>
                  <a:schemeClr val="bg1"/>
                </a:solidFill>
              </a:rPr>
              <a:t>Easy X  for C++</a:t>
            </a:r>
            <a:endParaRPr lang="zh-CN" altLang="en-US" sz="1200" i="1" dirty="0">
              <a:solidFill>
                <a:schemeClr val="bg1"/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1CAC6F0B-EB7B-4F19-A10B-CBC948D7EF4E}"/>
              </a:ext>
            </a:extLst>
          </p:cNvPr>
          <p:cNvSpPr txBox="1"/>
          <p:nvPr/>
        </p:nvSpPr>
        <p:spPr>
          <a:xfrm>
            <a:off x="657890" y="4778447"/>
            <a:ext cx="15009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solidFill>
                  <a:schemeClr val="bg1"/>
                </a:solidFill>
                <a:latin typeface="Arial Black" panose="020B0A04020102020204" pitchFamily="34" charset="0"/>
              </a:rPr>
              <a:t>How </a:t>
            </a:r>
            <a:r>
              <a:rPr lang="en-US" altLang="zh-CN" sz="1400" b="1" dirty="0">
                <a:solidFill>
                  <a:schemeClr val="bg1"/>
                </a:solidFill>
                <a:latin typeface="Arial Black" panose="020B0A04020102020204" pitchFamily="34" charset="0"/>
              </a:rPr>
              <a:t>to use</a:t>
            </a:r>
            <a:endParaRPr lang="zh-CN" altLang="en-US" sz="20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3" name="左大括号 32">
            <a:extLst>
              <a:ext uri="{FF2B5EF4-FFF2-40B4-BE49-F238E27FC236}">
                <a16:creationId xmlns:a16="http://schemas.microsoft.com/office/drawing/2014/main" id="{1084171C-9270-405E-9637-41A17BBB9938}"/>
              </a:ext>
            </a:extLst>
          </p:cNvPr>
          <p:cNvSpPr/>
          <p:nvPr/>
        </p:nvSpPr>
        <p:spPr>
          <a:xfrm>
            <a:off x="2113416" y="4351990"/>
            <a:ext cx="90797" cy="1302494"/>
          </a:xfrm>
          <a:prstGeom prst="leftBrac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4" name="Group 16">
            <a:extLst>
              <a:ext uri="{FF2B5EF4-FFF2-40B4-BE49-F238E27FC236}">
                <a16:creationId xmlns:a16="http://schemas.microsoft.com/office/drawing/2014/main" id="{EC2CB61D-10CE-4189-9870-CFA9F07453BE}"/>
              </a:ext>
            </a:extLst>
          </p:cNvPr>
          <p:cNvGrpSpPr>
            <a:grpSpLocks/>
          </p:cNvGrpSpPr>
          <p:nvPr/>
        </p:nvGrpSpPr>
        <p:grpSpPr bwMode="auto">
          <a:xfrm rot="20457993">
            <a:off x="6473203" y="1873985"/>
            <a:ext cx="2491975" cy="2579776"/>
            <a:chOff x="0" y="0"/>
            <a:chExt cx="1201" cy="1200"/>
          </a:xfrm>
          <a:solidFill>
            <a:schemeClr val="bg1"/>
          </a:solidFill>
        </p:grpSpPr>
        <p:sp>
          <p:nvSpPr>
            <p:cNvPr id="35" name="AutoShape 46">
              <a:extLst>
                <a:ext uri="{FF2B5EF4-FFF2-40B4-BE49-F238E27FC236}">
                  <a16:creationId xmlns:a16="http://schemas.microsoft.com/office/drawing/2014/main" id="{4492BA7D-0120-4024-B56F-AA2A8A9E1829}"/>
                </a:ext>
              </a:extLst>
            </p:cNvPr>
            <p:cNvSpPr>
              <a:spLocks/>
            </p:cNvSpPr>
            <p:nvPr/>
          </p:nvSpPr>
          <p:spPr bwMode="auto">
            <a:xfrm>
              <a:off x="96" y="96"/>
              <a:ext cx="1016" cy="1007"/>
            </a:xfrm>
            <a:custGeom>
              <a:avLst/>
              <a:gdLst>
                <a:gd name="T0" fmla="*/ 0 w 21600"/>
                <a:gd name="T1" fmla="*/ 23 h 21600"/>
                <a:gd name="T2" fmla="*/ 23 w 21600"/>
                <a:gd name="T3" fmla="*/ 0 h 21600"/>
                <a:gd name="T4" fmla="*/ 47 w 21600"/>
                <a:gd name="T5" fmla="*/ 23 h 21600"/>
                <a:gd name="T6" fmla="*/ 23 w 21600"/>
                <a:gd name="T7" fmla="*/ 47 h 21600"/>
                <a:gd name="T8" fmla="*/ 0 w 21600"/>
                <a:gd name="T9" fmla="*/ 23 h 21600"/>
                <a:gd name="T10" fmla="*/ 7 w 21600"/>
                <a:gd name="T11" fmla="*/ 23 h 21600"/>
                <a:gd name="T12" fmla="*/ 23 w 21600"/>
                <a:gd name="T13" fmla="*/ 40 h 21600"/>
                <a:gd name="T14" fmla="*/ 40 w 21600"/>
                <a:gd name="T15" fmla="*/ 23 h 21600"/>
                <a:gd name="T16" fmla="*/ 23 w 21600"/>
                <a:gd name="T17" fmla="*/ 7 h 21600"/>
                <a:gd name="T18" fmla="*/ 7 w 21600"/>
                <a:gd name="T19" fmla="*/ 23 h 2160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3153 w 21600"/>
                <a:gd name="T31" fmla="*/ 3153 h 21600"/>
                <a:gd name="T32" fmla="*/ 18447 w 21600"/>
                <a:gd name="T33" fmla="*/ 18447 h 2160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3003" y="10800"/>
                  </a:moveTo>
                  <a:cubicBezTo>
                    <a:pt x="3003" y="15106"/>
                    <a:pt x="6494" y="18597"/>
                    <a:pt x="10800" y="18597"/>
                  </a:cubicBezTo>
                  <a:cubicBezTo>
                    <a:pt x="15106" y="18597"/>
                    <a:pt x="18597" y="15106"/>
                    <a:pt x="18597" y="10800"/>
                  </a:cubicBezTo>
                  <a:cubicBezTo>
                    <a:pt x="18597" y="6494"/>
                    <a:pt x="15106" y="3003"/>
                    <a:pt x="10800" y="3003"/>
                  </a:cubicBezTo>
                  <a:cubicBezTo>
                    <a:pt x="6494" y="3003"/>
                    <a:pt x="3003" y="6494"/>
                    <a:pt x="3003" y="10800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  <p:grpSp>
          <p:nvGrpSpPr>
            <p:cNvPr id="36" name="Group 18">
              <a:extLst>
                <a:ext uri="{FF2B5EF4-FFF2-40B4-BE49-F238E27FC236}">
                  <a16:creationId xmlns:a16="http://schemas.microsoft.com/office/drawing/2014/main" id="{8CF869B8-7FDF-40CF-AB8B-0DF72648881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6" y="0"/>
              <a:ext cx="288" cy="1200"/>
              <a:chOff x="0" y="0"/>
              <a:chExt cx="288" cy="1200"/>
            </a:xfrm>
            <a:grpFill/>
          </p:grpSpPr>
          <p:sp>
            <p:nvSpPr>
              <p:cNvPr id="46" name="AutoShape 48">
                <a:extLst>
                  <a:ext uri="{FF2B5EF4-FFF2-40B4-BE49-F238E27FC236}">
                    <a16:creationId xmlns:a16="http://schemas.microsoft.com/office/drawing/2014/main" id="{A09229DF-824F-47C7-96F4-64DC4BBDF9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983"/>
                <a:ext cx="288" cy="217"/>
              </a:xfrm>
              <a:custGeom>
                <a:avLst/>
                <a:gdLst>
                  <a:gd name="T0" fmla="*/ 0 w 21600"/>
                  <a:gd name="T1" fmla="*/ 0 h 21600"/>
                  <a:gd name="T2" fmla="*/ 1 w 21600"/>
                  <a:gd name="T3" fmla="*/ 2 h 21600"/>
                  <a:gd name="T4" fmla="*/ 3 w 21600"/>
                  <a:gd name="T5" fmla="*/ 2 h 21600"/>
                  <a:gd name="T6" fmla="*/ 4 w 21600"/>
                  <a:gd name="T7" fmla="*/ 0 h 21600"/>
                  <a:gd name="T8" fmla="*/ 0 w 21600"/>
                  <a:gd name="T9" fmla="*/ 0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4500 w 21600"/>
                  <a:gd name="T16" fmla="*/ 4479 h 21600"/>
                  <a:gd name="T17" fmla="*/ 17100 w 21600"/>
                  <a:gd name="T18" fmla="*/ 17121 h 216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47" name="AutoShape 49">
                <a:extLst>
                  <a:ext uri="{FF2B5EF4-FFF2-40B4-BE49-F238E27FC236}">
                    <a16:creationId xmlns:a16="http://schemas.microsoft.com/office/drawing/2014/main" id="{5917E473-7EAF-4CDB-8CEA-B5195402A86A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0" y="0"/>
                <a:ext cx="288" cy="217"/>
              </a:xfrm>
              <a:custGeom>
                <a:avLst/>
                <a:gdLst>
                  <a:gd name="T0" fmla="*/ 0 w 21600"/>
                  <a:gd name="T1" fmla="*/ 0 h 21600"/>
                  <a:gd name="T2" fmla="*/ 1 w 21600"/>
                  <a:gd name="T3" fmla="*/ 2 h 21600"/>
                  <a:gd name="T4" fmla="*/ 3 w 21600"/>
                  <a:gd name="T5" fmla="*/ 2 h 21600"/>
                  <a:gd name="T6" fmla="*/ 4 w 21600"/>
                  <a:gd name="T7" fmla="*/ 0 h 21600"/>
                  <a:gd name="T8" fmla="*/ 0 w 21600"/>
                  <a:gd name="T9" fmla="*/ 0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4500 w 21600"/>
                  <a:gd name="T16" fmla="*/ 4479 h 21600"/>
                  <a:gd name="T17" fmla="*/ 17100 w 21600"/>
                  <a:gd name="T18" fmla="*/ 17121 h 216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endParaRPr>
              </a:p>
            </p:txBody>
          </p:sp>
        </p:grpSp>
        <p:grpSp>
          <p:nvGrpSpPr>
            <p:cNvPr id="37" name="Group 21">
              <a:extLst>
                <a:ext uri="{FF2B5EF4-FFF2-40B4-BE49-F238E27FC236}">
                  <a16:creationId xmlns:a16="http://schemas.microsoft.com/office/drawing/2014/main" id="{F1638821-C079-4404-9F93-ABF5C84A9F29}"/>
                </a:ext>
              </a:extLst>
            </p:cNvPr>
            <p:cNvGrpSpPr>
              <a:grpSpLocks/>
            </p:cNvGrpSpPr>
            <p:nvPr/>
          </p:nvGrpSpPr>
          <p:grpSpPr bwMode="auto">
            <a:xfrm rot="16200000">
              <a:off x="456" y="0"/>
              <a:ext cx="288" cy="1200"/>
              <a:chOff x="0" y="0"/>
              <a:chExt cx="288" cy="1200"/>
            </a:xfrm>
            <a:grpFill/>
          </p:grpSpPr>
          <p:sp>
            <p:nvSpPr>
              <p:cNvPr id="44" name="AutoShape 51">
                <a:extLst>
                  <a:ext uri="{FF2B5EF4-FFF2-40B4-BE49-F238E27FC236}">
                    <a16:creationId xmlns:a16="http://schemas.microsoft.com/office/drawing/2014/main" id="{AA2DE5B3-9D41-49E8-BEED-A50E61FCBB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983"/>
                <a:ext cx="288" cy="217"/>
              </a:xfrm>
              <a:custGeom>
                <a:avLst/>
                <a:gdLst>
                  <a:gd name="T0" fmla="*/ 0 w 21600"/>
                  <a:gd name="T1" fmla="*/ 0 h 21600"/>
                  <a:gd name="T2" fmla="*/ 1 w 21600"/>
                  <a:gd name="T3" fmla="*/ 2 h 21600"/>
                  <a:gd name="T4" fmla="*/ 3 w 21600"/>
                  <a:gd name="T5" fmla="*/ 2 h 21600"/>
                  <a:gd name="T6" fmla="*/ 4 w 21600"/>
                  <a:gd name="T7" fmla="*/ 0 h 21600"/>
                  <a:gd name="T8" fmla="*/ 0 w 21600"/>
                  <a:gd name="T9" fmla="*/ 0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4500 w 21600"/>
                  <a:gd name="T16" fmla="*/ 4479 h 21600"/>
                  <a:gd name="T17" fmla="*/ 17100 w 21600"/>
                  <a:gd name="T18" fmla="*/ 17121 h 216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45" name="AutoShape 52">
                <a:extLst>
                  <a:ext uri="{FF2B5EF4-FFF2-40B4-BE49-F238E27FC236}">
                    <a16:creationId xmlns:a16="http://schemas.microsoft.com/office/drawing/2014/main" id="{5E3176A9-9974-453C-ABC6-79BFE0BB6BB5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0" y="0"/>
                <a:ext cx="288" cy="217"/>
              </a:xfrm>
              <a:custGeom>
                <a:avLst/>
                <a:gdLst>
                  <a:gd name="T0" fmla="*/ 0 w 21600"/>
                  <a:gd name="T1" fmla="*/ 0 h 21600"/>
                  <a:gd name="T2" fmla="*/ 1 w 21600"/>
                  <a:gd name="T3" fmla="*/ 2 h 21600"/>
                  <a:gd name="T4" fmla="*/ 3 w 21600"/>
                  <a:gd name="T5" fmla="*/ 2 h 21600"/>
                  <a:gd name="T6" fmla="*/ 4 w 21600"/>
                  <a:gd name="T7" fmla="*/ 0 h 21600"/>
                  <a:gd name="T8" fmla="*/ 0 w 21600"/>
                  <a:gd name="T9" fmla="*/ 0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4500 w 21600"/>
                  <a:gd name="T16" fmla="*/ 4479 h 21600"/>
                  <a:gd name="T17" fmla="*/ 17100 w 21600"/>
                  <a:gd name="T18" fmla="*/ 17121 h 216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endParaRPr>
              </a:p>
            </p:txBody>
          </p:sp>
        </p:grpSp>
        <p:grpSp>
          <p:nvGrpSpPr>
            <p:cNvPr id="38" name="Group 24">
              <a:extLst>
                <a:ext uri="{FF2B5EF4-FFF2-40B4-BE49-F238E27FC236}">
                  <a16:creationId xmlns:a16="http://schemas.microsoft.com/office/drawing/2014/main" id="{78AA4D43-AF88-4820-A786-C74398C77EC8}"/>
                </a:ext>
              </a:extLst>
            </p:cNvPr>
            <p:cNvGrpSpPr>
              <a:grpSpLocks/>
            </p:cNvGrpSpPr>
            <p:nvPr/>
          </p:nvGrpSpPr>
          <p:grpSpPr bwMode="auto">
            <a:xfrm rot="18900000">
              <a:off x="456" y="0"/>
              <a:ext cx="288" cy="1200"/>
              <a:chOff x="0" y="0"/>
              <a:chExt cx="288" cy="1200"/>
            </a:xfrm>
            <a:grpFill/>
          </p:grpSpPr>
          <p:sp>
            <p:nvSpPr>
              <p:cNvPr id="42" name="AutoShape 54">
                <a:extLst>
                  <a:ext uri="{FF2B5EF4-FFF2-40B4-BE49-F238E27FC236}">
                    <a16:creationId xmlns:a16="http://schemas.microsoft.com/office/drawing/2014/main" id="{A90C2368-05DF-4064-927B-59155A056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983"/>
                <a:ext cx="288" cy="217"/>
              </a:xfrm>
              <a:custGeom>
                <a:avLst/>
                <a:gdLst>
                  <a:gd name="T0" fmla="*/ 0 w 21600"/>
                  <a:gd name="T1" fmla="*/ 0 h 21600"/>
                  <a:gd name="T2" fmla="*/ 1 w 21600"/>
                  <a:gd name="T3" fmla="*/ 2 h 21600"/>
                  <a:gd name="T4" fmla="*/ 3 w 21600"/>
                  <a:gd name="T5" fmla="*/ 2 h 21600"/>
                  <a:gd name="T6" fmla="*/ 4 w 21600"/>
                  <a:gd name="T7" fmla="*/ 0 h 21600"/>
                  <a:gd name="T8" fmla="*/ 0 w 21600"/>
                  <a:gd name="T9" fmla="*/ 0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4500 w 21600"/>
                  <a:gd name="T16" fmla="*/ 4479 h 21600"/>
                  <a:gd name="T17" fmla="*/ 17100 w 21600"/>
                  <a:gd name="T18" fmla="*/ 17121 h 216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43" name="AutoShape 55">
                <a:extLst>
                  <a:ext uri="{FF2B5EF4-FFF2-40B4-BE49-F238E27FC236}">
                    <a16:creationId xmlns:a16="http://schemas.microsoft.com/office/drawing/2014/main" id="{70CB7899-7263-400D-9B98-0BB7E4283579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0" y="0"/>
                <a:ext cx="288" cy="217"/>
              </a:xfrm>
              <a:custGeom>
                <a:avLst/>
                <a:gdLst>
                  <a:gd name="T0" fmla="*/ 0 w 21600"/>
                  <a:gd name="T1" fmla="*/ 0 h 21600"/>
                  <a:gd name="T2" fmla="*/ 1 w 21600"/>
                  <a:gd name="T3" fmla="*/ 2 h 21600"/>
                  <a:gd name="T4" fmla="*/ 3 w 21600"/>
                  <a:gd name="T5" fmla="*/ 2 h 21600"/>
                  <a:gd name="T6" fmla="*/ 4 w 21600"/>
                  <a:gd name="T7" fmla="*/ 0 h 21600"/>
                  <a:gd name="T8" fmla="*/ 0 w 21600"/>
                  <a:gd name="T9" fmla="*/ 0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4500 w 21600"/>
                  <a:gd name="T16" fmla="*/ 4479 h 21600"/>
                  <a:gd name="T17" fmla="*/ 17100 w 21600"/>
                  <a:gd name="T18" fmla="*/ 17121 h 216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endParaRPr>
              </a:p>
            </p:txBody>
          </p:sp>
        </p:grpSp>
        <p:grpSp>
          <p:nvGrpSpPr>
            <p:cNvPr id="39" name="Group 27">
              <a:extLst>
                <a:ext uri="{FF2B5EF4-FFF2-40B4-BE49-F238E27FC236}">
                  <a16:creationId xmlns:a16="http://schemas.microsoft.com/office/drawing/2014/main" id="{161176F6-6096-463E-8936-38BD6778E9CD}"/>
                </a:ext>
              </a:extLst>
            </p:cNvPr>
            <p:cNvGrpSpPr>
              <a:grpSpLocks/>
            </p:cNvGrpSpPr>
            <p:nvPr/>
          </p:nvGrpSpPr>
          <p:grpSpPr bwMode="auto">
            <a:xfrm rot="2700000" flipH="1">
              <a:off x="457" y="0"/>
              <a:ext cx="288" cy="1200"/>
              <a:chOff x="0" y="0"/>
              <a:chExt cx="288" cy="1200"/>
            </a:xfrm>
            <a:grpFill/>
          </p:grpSpPr>
          <p:sp>
            <p:nvSpPr>
              <p:cNvPr id="40" name="AutoShape 57">
                <a:extLst>
                  <a:ext uri="{FF2B5EF4-FFF2-40B4-BE49-F238E27FC236}">
                    <a16:creationId xmlns:a16="http://schemas.microsoft.com/office/drawing/2014/main" id="{499C92A3-11D1-4C4D-84F2-C99633A5DA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0" y="983"/>
                <a:ext cx="288" cy="217"/>
              </a:xfrm>
              <a:custGeom>
                <a:avLst/>
                <a:gdLst>
                  <a:gd name="T0" fmla="*/ 0 w 21600"/>
                  <a:gd name="T1" fmla="*/ 0 h 21600"/>
                  <a:gd name="T2" fmla="*/ 1 w 21600"/>
                  <a:gd name="T3" fmla="*/ 2 h 21600"/>
                  <a:gd name="T4" fmla="*/ 3 w 21600"/>
                  <a:gd name="T5" fmla="*/ 2 h 21600"/>
                  <a:gd name="T6" fmla="*/ 4 w 21600"/>
                  <a:gd name="T7" fmla="*/ 0 h 21600"/>
                  <a:gd name="T8" fmla="*/ 0 w 21600"/>
                  <a:gd name="T9" fmla="*/ 0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4500 w 21600"/>
                  <a:gd name="T16" fmla="*/ 4479 h 21600"/>
                  <a:gd name="T17" fmla="*/ 17100 w 21600"/>
                  <a:gd name="T18" fmla="*/ 17121 h 216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41" name="AutoShape 58">
                <a:extLst>
                  <a:ext uri="{FF2B5EF4-FFF2-40B4-BE49-F238E27FC236}">
                    <a16:creationId xmlns:a16="http://schemas.microsoft.com/office/drawing/2014/main" id="{BCB70ADC-0589-4143-9AB1-17183F0B0FE8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0" y="0"/>
                <a:ext cx="288" cy="217"/>
              </a:xfrm>
              <a:custGeom>
                <a:avLst/>
                <a:gdLst>
                  <a:gd name="T0" fmla="*/ 0 w 21600"/>
                  <a:gd name="T1" fmla="*/ 0 h 21600"/>
                  <a:gd name="T2" fmla="*/ 1 w 21600"/>
                  <a:gd name="T3" fmla="*/ 2 h 21600"/>
                  <a:gd name="T4" fmla="*/ 3 w 21600"/>
                  <a:gd name="T5" fmla="*/ 2 h 21600"/>
                  <a:gd name="T6" fmla="*/ 4 w 21600"/>
                  <a:gd name="T7" fmla="*/ 0 h 21600"/>
                  <a:gd name="T8" fmla="*/ 0 w 21600"/>
                  <a:gd name="T9" fmla="*/ 0 h 216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4500 w 21600"/>
                  <a:gd name="T16" fmla="*/ 4479 h 21600"/>
                  <a:gd name="T17" fmla="*/ 17100 w 21600"/>
                  <a:gd name="T18" fmla="*/ 17121 h 216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520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repeatCount="4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8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21600000">
                                      <p:cBhvr>
                                        <p:cTn id="72" dur="5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26" grpId="0" animBg="1"/>
      <p:bldP spid="27" grpId="0" animBg="1"/>
      <p:bldP spid="28" grpId="0" animBg="1"/>
      <p:bldP spid="29" grpId="0"/>
      <p:bldP spid="32" grpId="0"/>
      <p:bldP spid="3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C5C426AE-10CC-41C1-85AD-ABA1C02C9260}"/>
              </a:ext>
            </a:extLst>
          </p:cNvPr>
          <p:cNvSpPr txBox="1"/>
          <p:nvPr/>
        </p:nvSpPr>
        <p:spPr>
          <a:xfrm>
            <a:off x="7620169" y="6043143"/>
            <a:ext cx="1738173" cy="6908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</a:rPr>
              <a:t>shiKuai</a:t>
            </a:r>
          </a:p>
          <a:p>
            <a:pPr algn="ctr"/>
            <a:r>
              <a:rPr lang="zh-CN" altLang="en-US" dirty="0">
                <a:solidFill>
                  <a:schemeClr val="bg1"/>
                </a:solidFill>
              </a:rPr>
              <a:t>落实不动的方块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8A30A03B-8D0A-419D-8AE8-4DBE44ABE70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9000"/>
          </a:blip>
          <a:srcRect l="2273" t="1290" r="3310" b="659"/>
          <a:stretch/>
        </p:blipFill>
        <p:spPr>
          <a:xfrm>
            <a:off x="7396663" y="1075558"/>
            <a:ext cx="2550167" cy="5019518"/>
          </a:xfrm>
          <a:prstGeom prst="rect">
            <a:avLst/>
          </a:prstGeom>
        </p:spPr>
      </p:pic>
      <p:sp>
        <p:nvSpPr>
          <p:cNvPr id="13" name="左大括号 12">
            <a:extLst>
              <a:ext uri="{FF2B5EF4-FFF2-40B4-BE49-F238E27FC236}">
                <a16:creationId xmlns:a16="http://schemas.microsoft.com/office/drawing/2014/main" id="{08449875-08F2-49F7-B06B-88F5EC32C1DA}"/>
              </a:ext>
            </a:extLst>
          </p:cNvPr>
          <p:cNvSpPr/>
          <p:nvPr/>
        </p:nvSpPr>
        <p:spPr>
          <a:xfrm>
            <a:off x="6849187" y="1015472"/>
            <a:ext cx="364984" cy="4936022"/>
          </a:xfrm>
          <a:prstGeom prst="leftBrace">
            <a:avLst>
              <a:gd name="adj1" fmla="val 89728"/>
              <a:gd name="adj2" fmla="val 50000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左大括号 13">
            <a:extLst>
              <a:ext uri="{FF2B5EF4-FFF2-40B4-BE49-F238E27FC236}">
                <a16:creationId xmlns:a16="http://schemas.microsoft.com/office/drawing/2014/main" id="{A5B9E3BB-5D4D-4550-9D1F-80329D9ED64C}"/>
              </a:ext>
            </a:extLst>
          </p:cNvPr>
          <p:cNvSpPr/>
          <p:nvPr/>
        </p:nvSpPr>
        <p:spPr>
          <a:xfrm flipH="1">
            <a:off x="4907764" y="1057221"/>
            <a:ext cx="364984" cy="4936022"/>
          </a:xfrm>
          <a:prstGeom prst="leftBrace">
            <a:avLst>
              <a:gd name="adj1" fmla="val 89728"/>
              <a:gd name="adj2" fmla="val 50000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281D416-A744-43A4-99FA-3A4A1B733D6C}"/>
              </a:ext>
            </a:extLst>
          </p:cNvPr>
          <p:cNvSpPr txBox="1"/>
          <p:nvPr/>
        </p:nvSpPr>
        <p:spPr>
          <a:xfrm>
            <a:off x="5572290" y="3216616"/>
            <a:ext cx="1094405" cy="6044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>
                <a:solidFill>
                  <a:srgbClr val="FFC000"/>
                </a:solidFill>
              </a:rPr>
              <a:t>20</a:t>
            </a:r>
            <a:r>
              <a:rPr lang="zh-CN" altLang="en-US" sz="3600" dirty="0">
                <a:solidFill>
                  <a:srgbClr val="FFC000"/>
                </a:solidFill>
              </a:rPr>
              <a:t>行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6845396-1ABE-4B3D-8A1E-209F19224B19}"/>
              </a:ext>
            </a:extLst>
          </p:cNvPr>
          <p:cNvSpPr txBox="1"/>
          <p:nvPr/>
        </p:nvSpPr>
        <p:spPr>
          <a:xfrm>
            <a:off x="2650849" y="6043144"/>
            <a:ext cx="1292487" cy="6908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</a:rPr>
              <a:t>luoKuai</a:t>
            </a:r>
          </a:p>
          <a:p>
            <a:pPr algn="ctr"/>
            <a:r>
              <a:rPr lang="zh-CN" altLang="en-US" dirty="0">
                <a:solidFill>
                  <a:schemeClr val="bg1"/>
                </a:solidFill>
              </a:rPr>
              <a:t>下落的方块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1ADD59EC-B371-4B2D-AB24-85B0BC4E59C3}"/>
              </a:ext>
            </a:extLst>
          </p:cNvPr>
          <p:cNvGrpSpPr/>
          <p:nvPr/>
        </p:nvGrpSpPr>
        <p:grpSpPr>
          <a:xfrm>
            <a:off x="1991295" y="1015472"/>
            <a:ext cx="2611593" cy="5119316"/>
            <a:chOff x="1089660" y="670559"/>
            <a:chExt cx="2865120" cy="5737861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8E09A7CE-5668-46FA-AA59-B85F0AA30DB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alphaModFix/>
            </a:blip>
            <a:srcRect l="1675" t="1429" r="1675" b="1041"/>
            <a:stretch/>
          </p:blipFill>
          <p:spPr>
            <a:xfrm>
              <a:off x="1089660" y="670559"/>
              <a:ext cx="2865120" cy="5737861"/>
            </a:xfrm>
            <a:prstGeom prst="rect">
              <a:avLst/>
            </a:prstGeom>
          </p:spPr>
        </p:pic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47DA4666-2A32-446D-9052-CB42066A9F0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675" t="11273" r="1675" b="25262"/>
            <a:stretch/>
          </p:blipFill>
          <p:spPr>
            <a:xfrm>
              <a:off x="1089660" y="2674620"/>
              <a:ext cx="2865120" cy="3733800"/>
            </a:xfrm>
            <a:prstGeom prst="rect">
              <a:avLst/>
            </a:prstGeom>
          </p:spPr>
        </p:pic>
      </p:grpSp>
      <p:sp>
        <p:nvSpPr>
          <p:cNvPr id="16" name="箭头: 左右 15">
            <a:extLst>
              <a:ext uri="{FF2B5EF4-FFF2-40B4-BE49-F238E27FC236}">
                <a16:creationId xmlns:a16="http://schemas.microsoft.com/office/drawing/2014/main" id="{F0139A62-F8DB-45CB-B207-F49A76FF289D}"/>
              </a:ext>
            </a:extLst>
          </p:cNvPr>
          <p:cNvSpPr/>
          <p:nvPr/>
        </p:nvSpPr>
        <p:spPr>
          <a:xfrm>
            <a:off x="2177591" y="3080942"/>
            <a:ext cx="2611593" cy="581886"/>
          </a:xfrm>
          <a:prstGeom prst="leftRightArrow">
            <a:avLst/>
          </a:prstGeom>
          <a:solidFill>
            <a:schemeClr val="dk1">
              <a:alpha val="41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rgbClr val="FFFF00"/>
                </a:solidFill>
              </a:rPr>
              <a:t>10</a:t>
            </a:r>
            <a:r>
              <a:rPr lang="zh-CN" altLang="en-US" sz="2000" b="1" dirty="0">
                <a:solidFill>
                  <a:srgbClr val="FFFF00"/>
                </a:solidFill>
              </a:rPr>
              <a:t>列</a:t>
            </a:r>
          </a:p>
        </p:txBody>
      </p:sp>
      <p:sp>
        <p:nvSpPr>
          <p:cNvPr id="17" name="箭头: 左右 16">
            <a:extLst>
              <a:ext uri="{FF2B5EF4-FFF2-40B4-BE49-F238E27FC236}">
                <a16:creationId xmlns:a16="http://schemas.microsoft.com/office/drawing/2014/main" id="{BFF08779-1864-476E-9BEB-78D1DF9F167A}"/>
              </a:ext>
            </a:extLst>
          </p:cNvPr>
          <p:cNvSpPr/>
          <p:nvPr/>
        </p:nvSpPr>
        <p:spPr>
          <a:xfrm>
            <a:off x="7183459" y="3080942"/>
            <a:ext cx="2611593" cy="581886"/>
          </a:xfrm>
          <a:prstGeom prst="leftRightArrow">
            <a:avLst/>
          </a:prstGeom>
          <a:solidFill>
            <a:schemeClr val="dk1">
              <a:alpha val="41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rgbClr val="FFFF00"/>
                </a:solidFill>
              </a:rPr>
              <a:t>10</a:t>
            </a:r>
            <a:r>
              <a:rPr lang="zh-CN" altLang="en-US" sz="2000" b="1" dirty="0">
                <a:solidFill>
                  <a:srgbClr val="FFFF00"/>
                </a:solidFill>
              </a:rPr>
              <a:t>列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F3E0321-E815-4614-9D9E-7B8EE4119267}"/>
              </a:ext>
            </a:extLst>
          </p:cNvPr>
          <p:cNvSpPr txBox="1"/>
          <p:nvPr/>
        </p:nvSpPr>
        <p:spPr>
          <a:xfrm>
            <a:off x="4562922" y="271672"/>
            <a:ext cx="37753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</a:rPr>
              <a:t>定义二维数组保留方块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9EAA9D7C-82E4-47F0-BD72-AE6344C920B9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53000"/>
          </a:blip>
          <a:stretch>
            <a:fillRect/>
          </a:stretch>
        </p:blipFill>
        <p:spPr>
          <a:xfrm flipH="1">
            <a:off x="8838122" y="5436308"/>
            <a:ext cx="956930" cy="581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440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>
            <a:extLst>
              <a:ext uri="{FF2B5EF4-FFF2-40B4-BE49-F238E27FC236}">
                <a16:creationId xmlns:a16="http://schemas.microsoft.com/office/drawing/2014/main" id="{86BD943A-71F3-40A7-AF75-4E7D773E84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8668" y="1876709"/>
            <a:ext cx="5462123" cy="402426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455B8681-AE2D-4129-A72B-D933670C7D1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75" t="1430" r="1675" b="65212"/>
          <a:stretch/>
        </p:blipFill>
        <p:spPr>
          <a:xfrm>
            <a:off x="453976" y="2052225"/>
            <a:ext cx="4148706" cy="2871211"/>
          </a:xfrm>
          <a:prstGeom prst="rect">
            <a:avLst/>
          </a:prstGeom>
        </p:spPr>
      </p:pic>
      <p:sp>
        <p:nvSpPr>
          <p:cNvPr id="12" name="流程图: 接点 11">
            <a:extLst>
              <a:ext uri="{FF2B5EF4-FFF2-40B4-BE49-F238E27FC236}">
                <a16:creationId xmlns:a16="http://schemas.microsoft.com/office/drawing/2014/main" id="{BAC8BADE-A0DC-4B99-AE65-90017B8BB441}"/>
              </a:ext>
            </a:extLst>
          </p:cNvPr>
          <p:cNvSpPr/>
          <p:nvPr/>
        </p:nvSpPr>
        <p:spPr>
          <a:xfrm>
            <a:off x="2528329" y="2929195"/>
            <a:ext cx="391082" cy="356155"/>
          </a:xfrm>
          <a:prstGeom prst="flowChartConnector">
            <a:avLst/>
          </a:prstGeom>
          <a:solidFill>
            <a:srgbClr val="0F0F9E">
              <a:alpha val="86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8</a:t>
            </a:r>
            <a:endParaRPr lang="zh-CN" altLang="en-US" sz="2400" b="1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E023376-2607-4BD1-A6F2-3513411D59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976" y="4043890"/>
            <a:ext cx="4610500" cy="1074513"/>
          </a:xfrm>
          <a:prstGeom prst="rect">
            <a:avLst/>
          </a:prstGeom>
        </p:spPr>
      </p:pic>
      <p:pic>
        <p:nvPicPr>
          <p:cNvPr id="14" name="图形 13" descr="箭头: 轻微弯曲 纯色填充">
            <a:extLst>
              <a:ext uri="{FF2B5EF4-FFF2-40B4-BE49-F238E27FC236}">
                <a16:creationId xmlns:a16="http://schemas.microsoft.com/office/drawing/2014/main" id="{1450E754-9AE4-4EF7-BD01-02D3C1CEE7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5704739">
            <a:off x="2055888" y="3547605"/>
            <a:ext cx="1467226" cy="914400"/>
          </a:xfrm>
          <a:prstGeom prst="rect">
            <a:avLst/>
          </a:prstGeom>
        </p:spPr>
      </p:pic>
      <p:sp>
        <p:nvSpPr>
          <p:cNvPr id="8" name="对话气泡: 矩形 7">
            <a:extLst>
              <a:ext uri="{FF2B5EF4-FFF2-40B4-BE49-F238E27FC236}">
                <a16:creationId xmlns:a16="http://schemas.microsoft.com/office/drawing/2014/main" id="{555A6625-842A-4B44-BB7C-B7447BCA5DD2}"/>
              </a:ext>
            </a:extLst>
          </p:cNvPr>
          <p:cNvSpPr/>
          <p:nvPr/>
        </p:nvSpPr>
        <p:spPr>
          <a:xfrm>
            <a:off x="2277345" y="5366741"/>
            <a:ext cx="2139885" cy="1164799"/>
          </a:xfrm>
          <a:prstGeom prst="wedgeRectCallout">
            <a:avLst>
              <a:gd name="adj1" fmla="val -25238"/>
              <a:gd name="adj2" fmla="val -7751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rand()%10+1</a:t>
            </a:r>
            <a:br>
              <a:rPr lang="en-US" altLang="zh-CN" dirty="0"/>
            </a:br>
            <a:r>
              <a:rPr lang="en-US" altLang="zh-CN" dirty="0"/>
              <a:t>——————</a:t>
            </a:r>
          </a:p>
          <a:p>
            <a:pPr algn="ctr"/>
            <a:r>
              <a:rPr lang="zh-CN" altLang="en-US" sz="1400" dirty="0"/>
              <a:t>产生</a:t>
            </a:r>
            <a:r>
              <a:rPr lang="en-US" altLang="zh-CN" sz="1400" dirty="0"/>
              <a:t>1~10</a:t>
            </a:r>
            <a:r>
              <a:rPr lang="zh-CN" altLang="en-US" sz="1400" dirty="0"/>
              <a:t>之间的随机数</a:t>
            </a:r>
          </a:p>
        </p:txBody>
      </p:sp>
      <p:sp>
        <p:nvSpPr>
          <p:cNvPr id="16" name="对话气泡: 圆角矩形 15">
            <a:extLst>
              <a:ext uri="{FF2B5EF4-FFF2-40B4-BE49-F238E27FC236}">
                <a16:creationId xmlns:a16="http://schemas.microsoft.com/office/drawing/2014/main" id="{343AD526-FF4A-43B0-9E9C-76DDCA37C453}"/>
              </a:ext>
            </a:extLst>
          </p:cNvPr>
          <p:cNvSpPr/>
          <p:nvPr/>
        </p:nvSpPr>
        <p:spPr>
          <a:xfrm>
            <a:off x="4965098" y="1687188"/>
            <a:ext cx="1121790" cy="659877"/>
          </a:xfrm>
          <a:prstGeom prst="wedgeRoundRectCallout">
            <a:avLst>
              <a:gd name="adj1" fmla="val -86379"/>
              <a:gd name="adj2" fmla="val 38214"/>
              <a:gd name="adj3" fmla="val 16667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0</a:t>
            </a:r>
            <a:r>
              <a:rPr lang="zh-CN" altLang="en-US" dirty="0"/>
              <a:t>代表没有方块</a:t>
            </a:r>
          </a:p>
        </p:txBody>
      </p:sp>
      <p:sp>
        <p:nvSpPr>
          <p:cNvPr id="21" name="流程图: 过程 20">
            <a:extLst>
              <a:ext uri="{FF2B5EF4-FFF2-40B4-BE49-F238E27FC236}">
                <a16:creationId xmlns:a16="http://schemas.microsoft.com/office/drawing/2014/main" id="{8E232B74-8525-4598-A445-2DC5DB2A8151}"/>
              </a:ext>
            </a:extLst>
          </p:cNvPr>
          <p:cNvSpPr/>
          <p:nvPr/>
        </p:nvSpPr>
        <p:spPr>
          <a:xfrm>
            <a:off x="6449304" y="2152907"/>
            <a:ext cx="4426400" cy="1215539"/>
          </a:xfrm>
          <a:prstGeom prst="flowChartProcess">
            <a:avLst/>
          </a:prstGeom>
          <a:solidFill>
            <a:schemeClr val="tx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流程图: 过程 21">
            <a:extLst>
              <a:ext uri="{FF2B5EF4-FFF2-40B4-BE49-F238E27FC236}">
                <a16:creationId xmlns:a16="http://schemas.microsoft.com/office/drawing/2014/main" id="{D03926BF-AA4A-4E5A-832A-8208025BD68C}"/>
              </a:ext>
            </a:extLst>
          </p:cNvPr>
          <p:cNvSpPr/>
          <p:nvPr/>
        </p:nvSpPr>
        <p:spPr>
          <a:xfrm>
            <a:off x="7647956" y="4923436"/>
            <a:ext cx="1728886" cy="384802"/>
          </a:xfrm>
          <a:prstGeom prst="flowChartProcess">
            <a:avLst/>
          </a:prstGeom>
          <a:solidFill>
            <a:schemeClr val="tx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流程图: 过程 22">
            <a:extLst>
              <a:ext uri="{FF2B5EF4-FFF2-40B4-BE49-F238E27FC236}">
                <a16:creationId xmlns:a16="http://schemas.microsoft.com/office/drawing/2014/main" id="{2B6EA314-AABF-477A-94E9-A2488620895C}"/>
              </a:ext>
            </a:extLst>
          </p:cNvPr>
          <p:cNvSpPr/>
          <p:nvPr/>
        </p:nvSpPr>
        <p:spPr>
          <a:xfrm>
            <a:off x="7647956" y="4466392"/>
            <a:ext cx="1728886" cy="384802"/>
          </a:xfrm>
          <a:prstGeom prst="flowChartProcess">
            <a:avLst/>
          </a:prstGeom>
          <a:solidFill>
            <a:srgbClr val="FFC000">
              <a:alpha val="4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流程图: 过程 23">
            <a:extLst>
              <a:ext uri="{FF2B5EF4-FFF2-40B4-BE49-F238E27FC236}">
                <a16:creationId xmlns:a16="http://schemas.microsoft.com/office/drawing/2014/main" id="{EF92FE0C-D4A2-4D0F-8273-4F696B4243CA}"/>
              </a:ext>
            </a:extLst>
          </p:cNvPr>
          <p:cNvSpPr/>
          <p:nvPr/>
        </p:nvSpPr>
        <p:spPr>
          <a:xfrm>
            <a:off x="10875704" y="2874833"/>
            <a:ext cx="565608" cy="283893"/>
          </a:xfrm>
          <a:prstGeom prst="flowChartProcess">
            <a:avLst/>
          </a:prstGeom>
          <a:solidFill>
            <a:srgbClr val="FFC000">
              <a:alpha val="4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8" name="图形 27" descr="箭头: 轻微弯曲 纯色填充">
            <a:extLst>
              <a:ext uri="{FF2B5EF4-FFF2-40B4-BE49-F238E27FC236}">
                <a16:creationId xmlns:a16="http://schemas.microsoft.com/office/drawing/2014/main" id="{7204A191-9CFE-45D2-9A6F-FB88B9EF4B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1257499">
            <a:off x="4800827" y="4015367"/>
            <a:ext cx="2714308" cy="914400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96C311C1-6E7C-43B4-B6BA-B7084FBD00E4}"/>
              </a:ext>
            </a:extLst>
          </p:cNvPr>
          <p:cNvSpPr txBox="1"/>
          <p:nvPr/>
        </p:nvSpPr>
        <p:spPr>
          <a:xfrm>
            <a:off x="3963482" y="852026"/>
            <a:ext cx="37753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</a:rPr>
              <a:t>方块造型被显示的原理</a:t>
            </a:r>
          </a:p>
        </p:txBody>
      </p:sp>
    </p:spTree>
    <p:extLst>
      <p:ext uri="{BB962C8B-B14F-4D97-AF65-F5344CB8AC3E}">
        <p14:creationId xmlns:p14="http://schemas.microsoft.com/office/powerpoint/2010/main" val="8407468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下落">
            <a:hlinkClick r:id="" action="ppaction://media"/>
            <a:extLst>
              <a:ext uri="{FF2B5EF4-FFF2-40B4-BE49-F238E27FC236}">
                <a16:creationId xmlns:a16="http://schemas.microsoft.com/office/drawing/2014/main" id="{8B34247A-64A5-4031-8732-CCDDBE3A591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244781" y="502920"/>
            <a:ext cx="3402699" cy="622076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2C19C8F1-76F5-4E55-A9EE-28F85B697C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263517"/>
            <a:ext cx="4183526" cy="3000401"/>
          </a:xfrm>
          <a:prstGeom prst="rect">
            <a:avLst/>
          </a:prstGeom>
        </p:spPr>
      </p:pic>
      <p:sp>
        <p:nvSpPr>
          <p:cNvPr id="7" name="右大括号 6">
            <a:extLst>
              <a:ext uri="{FF2B5EF4-FFF2-40B4-BE49-F238E27FC236}">
                <a16:creationId xmlns:a16="http://schemas.microsoft.com/office/drawing/2014/main" id="{AAE0662F-1D25-49E0-A47A-C3362271D264}"/>
              </a:ext>
            </a:extLst>
          </p:cNvPr>
          <p:cNvSpPr/>
          <p:nvPr/>
        </p:nvSpPr>
        <p:spPr>
          <a:xfrm flipH="1">
            <a:off x="1933401" y="545743"/>
            <a:ext cx="622760" cy="5766514"/>
          </a:xfrm>
          <a:prstGeom prst="rightBrace">
            <a:avLst>
              <a:gd name="adj1" fmla="val 0"/>
              <a:gd name="adj2" fmla="val 50000"/>
            </a:avLst>
          </a:prstGeom>
          <a:solidFill>
            <a:srgbClr val="FF0000">
              <a:alpha val="49000"/>
            </a:srgbClr>
          </a:solidFill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0058AFD6-3E00-4BAD-B722-B1E69F2D00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4501295"/>
            <a:ext cx="4175511" cy="2113637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000C5022-FAB1-4C3C-8849-23A2CB55E94B}"/>
              </a:ext>
            </a:extLst>
          </p:cNvPr>
          <p:cNvSpPr txBox="1"/>
          <p:nvPr/>
        </p:nvSpPr>
        <p:spPr>
          <a:xfrm>
            <a:off x="6354501" y="502920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</a:rPr>
              <a:t>下落的逻辑与代码</a:t>
            </a:r>
          </a:p>
        </p:txBody>
      </p:sp>
    </p:spTree>
    <p:extLst>
      <p:ext uri="{BB962C8B-B14F-4D97-AF65-F5344CB8AC3E}">
        <p14:creationId xmlns:p14="http://schemas.microsoft.com/office/powerpoint/2010/main" val="1680054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91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左移">
            <a:hlinkClick r:id="" action="ppaction://media"/>
            <a:extLst>
              <a:ext uri="{FF2B5EF4-FFF2-40B4-BE49-F238E27FC236}">
                <a16:creationId xmlns:a16="http://schemas.microsoft.com/office/drawing/2014/main" id="{B8DDD4C8-6BAA-422B-9BA7-B14E7557C1B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261641" y="480032"/>
            <a:ext cx="3401800" cy="6219120"/>
          </a:xfrm>
          <a:prstGeom prst="rect">
            <a:avLst/>
          </a:prstGeom>
        </p:spPr>
      </p:pic>
      <p:sp>
        <p:nvSpPr>
          <p:cNvPr id="3" name="右大括号 2">
            <a:extLst>
              <a:ext uri="{FF2B5EF4-FFF2-40B4-BE49-F238E27FC236}">
                <a16:creationId xmlns:a16="http://schemas.microsoft.com/office/drawing/2014/main" id="{67787B84-7628-41C8-97EF-89C37445A0A0}"/>
              </a:ext>
            </a:extLst>
          </p:cNvPr>
          <p:cNvSpPr/>
          <p:nvPr/>
        </p:nvSpPr>
        <p:spPr>
          <a:xfrm rot="5400000" flipH="1">
            <a:off x="3039718" y="-975291"/>
            <a:ext cx="417048" cy="2685326"/>
          </a:xfrm>
          <a:prstGeom prst="rightBrace">
            <a:avLst>
              <a:gd name="adj1" fmla="val 0"/>
              <a:gd name="adj2" fmla="val 50000"/>
            </a:avLst>
          </a:prstGeom>
          <a:solidFill>
            <a:srgbClr val="FF0000">
              <a:alpha val="49000"/>
            </a:srgbClr>
          </a:solidFill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31762CD-09A6-4FA9-9D45-A5444547AE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7377" y="2210617"/>
            <a:ext cx="3711262" cy="224809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023575F-2497-4BAB-A514-A9D5A82321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27377" y="4563754"/>
            <a:ext cx="3771923" cy="1809846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9F93AF98-84EC-45B1-B980-AA717BCC7AFD}"/>
              </a:ext>
            </a:extLst>
          </p:cNvPr>
          <p:cNvSpPr txBox="1"/>
          <p:nvPr/>
        </p:nvSpPr>
        <p:spPr>
          <a:xfrm>
            <a:off x="5555848" y="1174251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</a:rPr>
              <a:t>左移的逻辑与代码</a:t>
            </a:r>
          </a:p>
        </p:txBody>
      </p:sp>
    </p:spTree>
    <p:extLst>
      <p:ext uri="{BB962C8B-B14F-4D97-AF65-F5344CB8AC3E}">
        <p14:creationId xmlns:p14="http://schemas.microsoft.com/office/powerpoint/2010/main" val="385290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40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A8E9756-EABB-4D08-96F6-BA8471BDA0E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6526"/>
          <a:stretch/>
        </p:blipFill>
        <p:spPr>
          <a:xfrm>
            <a:off x="395662" y="1869450"/>
            <a:ext cx="4743497" cy="1397504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E06A69E7-1CBD-4DC5-A4AD-BB759C1CD614}"/>
              </a:ext>
            </a:extLst>
          </p:cNvPr>
          <p:cNvSpPr txBox="1"/>
          <p:nvPr/>
        </p:nvSpPr>
        <p:spPr>
          <a:xfrm>
            <a:off x="4157007" y="71456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</a:rPr>
              <a:t>下落是否出界的判断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609692F-23FB-4690-9163-86BCBB0615D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48" t="8354"/>
          <a:stretch/>
        </p:blipFill>
        <p:spPr>
          <a:xfrm>
            <a:off x="7315200" y="1938897"/>
            <a:ext cx="4137535" cy="1258609"/>
          </a:xfrm>
          <a:prstGeom prst="rect">
            <a:avLst/>
          </a:prstGeom>
        </p:spPr>
      </p:pic>
      <p:sp>
        <p:nvSpPr>
          <p:cNvPr id="8" name="标注: 左右箭头 7">
            <a:extLst>
              <a:ext uri="{FF2B5EF4-FFF2-40B4-BE49-F238E27FC236}">
                <a16:creationId xmlns:a16="http://schemas.microsoft.com/office/drawing/2014/main" id="{91FDA001-2382-4A08-BBE8-D8EEE861641E}"/>
              </a:ext>
            </a:extLst>
          </p:cNvPr>
          <p:cNvSpPr/>
          <p:nvPr/>
        </p:nvSpPr>
        <p:spPr>
          <a:xfrm>
            <a:off x="5034988" y="2424897"/>
            <a:ext cx="2430683" cy="995422"/>
          </a:xfrm>
          <a:prstGeom prst="leftRightArrowCallout">
            <a:avLst>
              <a:gd name="adj1" fmla="val 25000"/>
              <a:gd name="adj2" fmla="val 25000"/>
              <a:gd name="adj3" fmla="val 25000"/>
              <a:gd name="adj4" fmla="val 6526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/>
              <a:t>最后一行是否有</a:t>
            </a:r>
            <a:endParaRPr lang="en-US" altLang="zh-CN" sz="2000" dirty="0"/>
          </a:p>
          <a:p>
            <a:pPr algn="ctr"/>
            <a:r>
              <a:rPr lang="zh-CN" altLang="en-US" sz="2400" b="1" dirty="0"/>
              <a:t>非</a:t>
            </a:r>
            <a:r>
              <a:rPr lang="en-US" altLang="zh-CN" sz="2400" b="1" dirty="0"/>
              <a:t>0</a:t>
            </a:r>
            <a:r>
              <a:rPr lang="zh-CN" altLang="en-US" sz="2000" dirty="0"/>
              <a:t>的数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D9BAF3E-C4C5-4C31-9841-F176C155218F}"/>
              </a:ext>
            </a:extLst>
          </p:cNvPr>
          <p:cNvSpPr/>
          <p:nvPr/>
        </p:nvSpPr>
        <p:spPr>
          <a:xfrm>
            <a:off x="7465671" y="2669413"/>
            <a:ext cx="3808071" cy="389198"/>
          </a:xfrm>
          <a:prstGeom prst="rect">
            <a:avLst/>
          </a:prstGeom>
          <a:solidFill>
            <a:schemeClr val="bg1">
              <a:alpha val="4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D0FC8F7E-A33D-4A16-A572-57BD04F827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855" y="3768299"/>
            <a:ext cx="2960878" cy="242326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EE23709E-B3B9-4957-A5A4-72A066EB75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8936" y="3752953"/>
            <a:ext cx="3383573" cy="2438611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BCC747F7-4FA7-4532-AFA8-5010F20BA1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8170" y="3837064"/>
            <a:ext cx="3825572" cy="2941575"/>
          </a:xfrm>
          <a:prstGeom prst="rect">
            <a:avLst/>
          </a:prstGeom>
        </p:spPr>
      </p:pic>
      <p:sp>
        <p:nvSpPr>
          <p:cNvPr id="17" name="箭头: 上 16">
            <a:extLst>
              <a:ext uri="{FF2B5EF4-FFF2-40B4-BE49-F238E27FC236}">
                <a16:creationId xmlns:a16="http://schemas.microsoft.com/office/drawing/2014/main" id="{9FBB0DE3-12C1-45A4-9F85-A093C5949444}"/>
              </a:ext>
            </a:extLst>
          </p:cNvPr>
          <p:cNvSpPr/>
          <p:nvPr/>
        </p:nvSpPr>
        <p:spPr>
          <a:xfrm rot="5400000">
            <a:off x="6097374" y="1623681"/>
            <a:ext cx="554765" cy="4844004"/>
          </a:xfrm>
          <a:prstGeom prst="upArrow">
            <a:avLst/>
          </a:prstGeom>
          <a:solidFill>
            <a:srgbClr val="FF0000">
              <a:alpha val="3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02175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A51C7D5-6619-4935-B519-C808E054C3DC}"/>
              </a:ext>
            </a:extLst>
          </p:cNvPr>
          <p:cNvSpPr txBox="1"/>
          <p:nvPr/>
        </p:nvSpPr>
        <p:spPr>
          <a:xfrm>
            <a:off x="6971765" y="849619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</a:rPr>
              <a:t>左移是否出界的判断</a:t>
            </a:r>
          </a:p>
        </p:txBody>
      </p:sp>
      <p:sp>
        <p:nvSpPr>
          <p:cNvPr id="3" name="标注: 左右箭头 2">
            <a:extLst>
              <a:ext uri="{FF2B5EF4-FFF2-40B4-BE49-F238E27FC236}">
                <a16:creationId xmlns:a16="http://schemas.microsoft.com/office/drawing/2014/main" id="{9D63AAEC-0E72-4B20-807A-3656DAC47E8F}"/>
              </a:ext>
            </a:extLst>
          </p:cNvPr>
          <p:cNvSpPr/>
          <p:nvPr/>
        </p:nvSpPr>
        <p:spPr>
          <a:xfrm>
            <a:off x="1857617" y="3081759"/>
            <a:ext cx="2482890" cy="1397644"/>
          </a:xfrm>
          <a:prstGeom prst="leftRightArrowCallout">
            <a:avLst>
              <a:gd name="adj1" fmla="val 25000"/>
              <a:gd name="adj2" fmla="val 25000"/>
              <a:gd name="adj3" fmla="val 25000"/>
              <a:gd name="adj4" fmla="val 6526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/>
              <a:t>第</a:t>
            </a:r>
            <a:r>
              <a:rPr lang="en-US" altLang="zh-CN" sz="2800" dirty="0"/>
              <a:t>0</a:t>
            </a:r>
            <a:r>
              <a:rPr lang="zh-CN" altLang="en-US" sz="2800" dirty="0"/>
              <a:t>列</a:t>
            </a:r>
            <a:endParaRPr lang="en-US" altLang="zh-CN" sz="2800" dirty="0"/>
          </a:p>
          <a:p>
            <a:pPr algn="ctr"/>
            <a:r>
              <a:rPr lang="zh-CN" altLang="en-US" sz="2000" dirty="0"/>
              <a:t>是否有</a:t>
            </a:r>
            <a:endParaRPr lang="en-US" altLang="zh-CN" sz="2000" dirty="0"/>
          </a:p>
          <a:p>
            <a:pPr algn="ctr"/>
            <a:r>
              <a:rPr lang="zh-CN" altLang="en-US" sz="2400" b="1" dirty="0"/>
              <a:t>非</a:t>
            </a:r>
            <a:r>
              <a:rPr lang="en-US" altLang="zh-CN" sz="2400" b="1" dirty="0"/>
              <a:t>0</a:t>
            </a:r>
            <a:r>
              <a:rPr lang="zh-CN" altLang="en-US" sz="2000" dirty="0"/>
              <a:t>的数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D981479-B88F-4A26-9B94-C948FC9300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871" y="849619"/>
            <a:ext cx="967824" cy="580694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FF7C765-471C-4930-B047-93E79D880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0507" y="857239"/>
            <a:ext cx="929721" cy="579932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D3338ED0-BA69-4B57-B031-678950837A5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0088" b="29053"/>
          <a:stretch/>
        </p:blipFill>
        <p:spPr>
          <a:xfrm>
            <a:off x="7566221" y="1503062"/>
            <a:ext cx="2768162" cy="2460012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F8DED593-C462-4A70-80AF-78D5AB7888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8442" y="4217954"/>
            <a:ext cx="3026646" cy="216189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AEDC9BA1-7385-40DE-91FF-C0BCF008DEFD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15541" b="11348"/>
          <a:stretch/>
        </p:blipFill>
        <p:spPr>
          <a:xfrm>
            <a:off x="8673302" y="4444678"/>
            <a:ext cx="3115190" cy="2161891"/>
          </a:xfrm>
          <a:prstGeom prst="rect">
            <a:avLst/>
          </a:prstGeom>
        </p:spPr>
      </p:pic>
      <p:sp>
        <p:nvSpPr>
          <p:cNvPr id="16" name="箭头: 上 15">
            <a:extLst>
              <a:ext uri="{FF2B5EF4-FFF2-40B4-BE49-F238E27FC236}">
                <a16:creationId xmlns:a16="http://schemas.microsoft.com/office/drawing/2014/main" id="{0CE7F003-411F-4433-8B7C-550056411B95}"/>
              </a:ext>
            </a:extLst>
          </p:cNvPr>
          <p:cNvSpPr/>
          <p:nvPr/>
        </p:nvSpPr>
        <p:spPr>
          <a:xfrm rot="5400000">
            <a:off x="7585246" y="2284044"/>
            <a:ext cx="451414" cy="4494895"/>
          </a:xfrm>
          <a:prstGeom prst="upArrow">
            <a:avLst/>
          </a:prstGeom>
          <a:solidFill>
            <a:srgbClr val="FF0000">
              <a:alpha val="3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20079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C3B44FB-CF1A-4D37-8BAF-6D2F49CA3AD0}"/>
              </a:ext>
            </a:extLst>
          </p:cNvPr>
          <p:cNvSpPr txBox="1"/>
          <p:nvPr/>
        </p:nvSpPr>
        <p:spPr>
          <a:xfrm>
            <a:off x="1209052" y="676288"/>
            <a:ext cx="43636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bg1"/>
                </a:solidFill>
              </a:rPr>
              <a:t>luoKuai</a:t>
            </a:r>
            <a:r>
              <a:rPr lang="zh-CN" altLang="en-US" sz="3200" dirty="0">
                <a:solidFill>
                  <a:schemeClr val="bg1"/>
                </a:solidFill>
              </a:rPr>
              <a:t>与</a:t>
            </a:r>
            <a:r>
              <a:rPr lang="en-US" altLang="zh-CN" sz="3200" dirty="0">
                <a:solidFill>
                  <a:schemeClr val="bg1"/>
                </a:solidFill>
              </a:rPr>
              <a:t>shiKuai</a:t>
            </a:r>
            <a:r>
              <a:rPr lang="zh-CN" altLang="en-US" sz="3200" dirty="0">
                <a:solidFill>
                  <a:schemeClr val="bg1"/>
                </a:solidFill>
              </a:rPr>
              <a:t>的合并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E102176-1BF2-4958-B71F-FD65C66201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190" y="1261063"/>
            <a:ext cx="2743009" cy="5339817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D99B8C5A-21DC-46CC-A1C3-F2D603DBE4A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178634" y="1314411"/>
            <a:ext cx="2637327" cy="523312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03E687DD-E37F-4D35-8811-8F0ADB6A20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5657" y="1314411"/>
            <a:ext cx="3486703" cy="2282315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A66C4909-D951-44FB-AC98-D7B161A463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5657" y="3784484"/>
            <a:ext cx="3604572" cy="2682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146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1.85185E-6 L 0.23893 -0.00417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940" y="-2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FD50C22-B5DD-46F7-BF5F-94BF8018C4DC}"/>
              </a:ext>
            </a:extLst>
          </p:cNvPr>
          <p:cNvSpPr txBox="1"/>
          <p:nvPr/>
        </p:nvSpPr>
        <p:spPr>
          <a:xfrm>
            <a:off x="4299457" y="500470"/>
            <a:ext cx="26532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</a:rPr>
              <a:t>出新块的逻辑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7DA1743-3442-454D-8798-0D2FFFAB50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380" y="2256061"/>
            <a:ext cx="2690377" cy="234587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D6FA3283-6BFD-4485-8B36-C440DAB982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3418" y="2807748"/>
            <a:ext cx="2865368" cy="845893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F65982B6-D3EB-4F6E-8A10-D2446216F2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3418" y="1497841"/>
            <a:ext cx="2926334" cy="1127858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FFE5EBA0-BB63-4AC2-B503-B8AF1529C8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83051" y="3763665"/>
            <a:ext cx="2834886" cy="838273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C25823C7-8549-4641-9F58-3E535BEAAA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83051" y="4747313"/>
            <a:ext cx="2850127" cy="1356478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EA232EFF-67A2-48E4-B0E0-BF79A76B7F6F}"/>
              </a:ext>
            </a:extLst>
          </p:cNvPr>
          <p:cNvSpPr txBox="1"/>
          <p:nvPr/>
        </p:nvSpPr>
        <p:spPr>
          <a:xfrm>
            <a:off x="980388" y="1588743"/>
            <a:ext cx="17427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</a:rPr>
              <a:t>rand()%4</a:t>
            </a:r>
            <a:endParaRPr lang="zh-CN" altLang="en-US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75645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7A41303-4F0C-4D26-BD54-7EB7FF02FAF8}"/>
              </a:ext>
            </a:extLst>
          </p:cNvPr>
          <p:cNvSpPr txBox="1"/>
          <p:nvPr/>
        </p:nvSpPr>
        <p:spPr>
          <a:xfrm>
            <a:off x="3649007" y="491044"/>
            <a:ext cx="56957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</a:rPr>
              <a:t>下落是否被</a:t>
            </a:r>
            <a:r>
              <a:rPr lang="en-US" altLang="zh-CN" sz="3200" dirty="0">
                <a:solidFill>
                  <a:schemeClr val="bg1"/>
                </a:solidFill>
              </a:rPr>
              <a:t>shiKuai</a:t>
            </a:r>
            <a:r>
              <a:rPr lang="zh-CN" altLang="en-US" sz="3200" dirty="0">
                <a:solidFill>
                  <a:schemeClr val="bg1"/>
                </a:solidFill>
              </a:rPr>
              <a:t>阻挡的判断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59EF9506-578A-4CB0-9F01-4FD4281E09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4611" y="1459487"/>
            <a:ext cx="1962777" cy="3925553"/>
          </a:xfrm>
          <a:prstGeom prst="rect">
            <a:avLst/>
          </a:prstGeom>
        </p:spPr>
      </p:pic>
      <p:pic>
        <p:nvPicPr>
          <p:cNvPr id="11" name="从下向上找到要下移的方块">
            <a:hlinkClick r:id="" action="ppaction://media"/>
            <a:extLst>
              <a:ext uri="{FF2B5EF4-FFF2-40B4-BE49-F238E27FC236}">
                <a16:creationId xmlns:a16="http://schemas.microsoft.com/office/drawing/2014/main" id="{A30B8EBC-585E-4913-9D2A-6549F678F4F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85735" y="1459487"/>
            <a:ext cx="2154611" cy="393902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F2C829E1-209C-44B8-8802-20035533AC60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6505" b="29268"/>
          <a:stretch/>
        </p:blipFill>
        <p:spPr>
          <a:xfrm>
            <a:off x="3461470" y="2565324"/>
            <a:ext cx="1531753" cy="1101277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DE777312-57DB-4671-AD51-605168870C19}"/>
              </a:ext>
            </a:extLst>
          </p:cNvPr>
          <p:cNvSpPr txBox="1"/>
          <p:nvPr/>
        </p:nvSpPr>
        <p:spPr>
          <a:xfrm>
            <a:off x="862793" y="5562600"/>
            <a:ext cx="18004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从下向上找</a:t>
            </a:r>
            <a:endParaRPr lang="en-US" altLang="zh-CN" dirty="0">
              <a:solidFill>
                <a:schemeClr val="bg1"/>
              </a:solidFill>
            </a:endParaRPr>
          </a:p>
          <a:p>
            <a:r>
              <a:rPr lang="zh-CN" altLang="en-US" dirty="0">
                <a:solidFill>
                  <a:schemeClr val="bg1"/>
                </a:solidFill>
              </a:rPr>
              <a:t>到</a:t>
            </a:r>
            <a:r>
              <a:rPr lang="zh-CN" altLang="en-US" b="1" dirty="0">
                <a:solidFill>
                  <a:schemeClr val="bg1"/>
                </a:solidFill>
              </a:rPr>
              <a:t>要下移的</a:t>
            </a:r>
            <a:r>
              <a:rPr lang="zh-CN" altLang="en-US" dirty="0">
                <a:solidFill>
                  <a:schemeClr val="bg1"/>
                </a:solidFill>
              </a:rPr>
              <a:t>方块</a:t>
            </a:r>
          </a:p>
        </p:txBody>
      </p:sp>
      <p:sp>
        <p:nvSpPr>
          <p:cNvPr id="8" name="流程图: 过程 7">
            <a:extLst>
              <a:ext uri="{FF2B5EF4-FFF2-40B4-BE49-F238E27FC236}">
                <a16:creationId xmlns:a16="http://schemas.microsoft.com/office/drawing/2014/main" id="{8F7CCC14-11A9-441D-AC7E-0182A64FA234}"/>
              </a:ext>
            </a:extLst>
          </p:cNvPr>
          <p:cNvSpPr/>
          <p:nvPr/>
        </p:nvSpPr>
        <p:spPr>
          <a:xfrm>
            <a:off x="4014966" y="2821127"/>
            <a:ext cx="311636" cy="593575"/>
          </a:xfrm>
          <a:prstGeom prst="flowChartProcess">
            <a:avLst/>
          </a:prstGeom>
          <a:solidFill>
            <a:srgbClr val="92D05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对话气泡: 圆角矩形 14">
            <a:extLst>
              <a:ext uri="{FF2B5EF4-FFF2-40B4-BE49-F238E27FC236}">
                <a16:creationId xmlns:a16="http://schemas.microsoft.com/office/drawing/2014/main" id="{6EB3248F-80CC-4703-99FA-8B4B4FEB6418}"/>
              </a:ext>
            </a:extLst>
          </p:cNvPr>
          <p:cNvSpPr/>
          <p:nvPr/>
        </p:nvSpPr>
        <p:spPr>
          <a:xfrm>
            <a:off x="3041875" y="4292675"/>
            <a:ext cx="1951348" cy="1253765"/>
          </a:xfrm>
          <a:prstGeom prst="wedgeRoundRectCallout">
            <a:avLst>
              <a:gd name="adj1" fmla="val 9275"/>
              <a:gd name="adj2" fmla="val -12471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看其所在列的下一行的</a:t>
            </a:r>
            <a:r>
              <a:rPr lang="en-US" altLang="zh-CN" dirty="0"/>
              <a:t>shiKuai</a:t>
            </a:r>
            <a:r>
              <a:rPr lang="zh-CN" altLang="en-US" dirty="0"/>
              <a:t>是否有方块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0F3C86DB-9286-46B3-AA1D-66B7135B06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83635" y="2569226"/>
            <a:ext cx="1402202" cy="1097375"/>
          </a:xfrm>
          <a:prstGeom prst="rect">
            <a:avLst/>
          </a:prstGeom>
        </p:spPr>
      </p:pic>
      <p:sp>
        <p:nvSpPr>
          <p:cNvPr id="18" name="流程图: 过程 17">
            <a:extLst>
              <a:ext uri="{FF2B5EF4-FFF2-40B4-BE49-F238E27FC236}">
                <a16:creationId xmlns:a16="http://schemas.microsoft.com/office/drawing/2014/main" id="{688E3263-1FAB-4AC8-B811-4EBD1F960BA1}"/>
              </a:ext>
            </a:extLst>
          </p:cNvPr>
          <p:cNvSpPr/>
          <p:nvPr/>
        </p:nvSpPr>
        <p:spPr>
          <a:xfrm>
            <a:off x="5728918" y="2835424"/>
            <a:ext cx="311636" cy="579277"/>
          </a:xfrm>
          <a:prstGeom prst="flowChartProcess">
            <a:avLst/>
          </a:prstGeom>
          <a:solidFill>
            <a:srgbClr val="00B050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对话气泡: 圆角矩形 18">
            <a:extLst>
              <a:ext uri="{FF2B5EF4-FFF2-40B4-BE49-F238E27FC236}">
                <a16:creationId xmlns:a16="http://schemas.microsoft.com/office/drawing/2014/main" id="{D8461EEA-8336-4926-8C25-D107FF222B80}"/>
              </a:ext>
            </a:extLst>
          </p:cNvPr>
          <p:cNvSpPr/>
          <p:nvPr/>
        </p:nvSpPr>
        <p:spPr>
          <a:xfrm>
            <a:off x="3039292" y="4292674"/>
            <a:ext cx="1951348" cy="1253765"/>
          </a:xfrm>
          <a:prstGeom prst="wedgeRoundRectCallout">
            <a:avLst>
              <a:gd name="adj1" fmla="val 89951"/>
              <a:gd name="adj2" fmla="val -12847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看其所在列的下一行的</a:t>
            </a:r>
            <a:r>
              <a:rPr lang="en-US" altLang="zh-CN" dirty="0"/>
              <a:t>shiKuai</a:t>
            </a:r>
            <a:r>
              <a:rPr lang="zh-CN" altLang="en-US" dirty="0"/>
              <a:t>是否有方块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130D3CD4-CD26-4814-84BB-9155714C59D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13474" y="1182186"/>
            <a:ext cx="3491531" cy="2267488"/>
          </a:xfrm>
          <a:prstGeom prst="rect">
            <a:avLst/>
          </a:prstGeom>
        </p:spPr>
      </p:pic>
      <p:sp>
        <p:nvSpPr>
          <p:cNvPr id="22" name="右大括号 21">
            <a:extLst>
              <a:ext uri="{FF2B5EF4-FFF2-40B4-BE49-F238E27FC236}">
                <a16:creationId xmlns:a16="http://schemas.microsoft.com/office/drawing/2014/main" id="{37B2F0F5-DD6E-4F7B-A95A-1EF2BE445DF4}"/>
              </a:ext>
            </a:extLst>
          </p:cNvPr>
          <p:cNvSpPr/>
          <p:nvPr/>
        </p:nvSpPr>
        <p:spPr>
          <a:xfrm flipH="1">
            <a:off x="229470" y="1459487"/>
            <a:ext cx="622760" cy="3621560"/>
          </a:xfrm>
          <a:prstGeom prst="rightBrace">
            <a:avLst>
              <a:gd name="adj1" fmla="val 0"/>
              <a:gd name="adj2" fmla="val 50000"/>
            </a:avLst>
          </a:prstGeom>
          <a:solidFill>
            <a:srgbClr val="FF0000">
              <a:alpha val="49000"/>
            </a:srgbClr>
          </a:solidFill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421AEACC-F7A1-456A-B2ED-CF3A25C9C64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37016" y="3556041"/>
            <a:ext cx="3491531" cy="2544789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9EC23A13-FD87-49C5-A1B4-724A52B3ED9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11754" y="5359003"/>
            <a:ext cx="2612225" cy="144594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2297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733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93C635A-CD5D-441C-8401-AB53FC788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257" y="4183143"/>
            <a:ext cx="2857748" cy="2027096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67688476-CEC8-4607-AD95-5B59E02401FC}"/>
              </a:ext>
            </a:extLst>
          </p:cNvPr>
          <p:cNvSpPr txBox="1"/>
          <p:nvPr/>
        </p:nvSpPr>
        <p:spPr>
          <a:xfrm>
            <a:off x="3649007" y="491044"/>
            <a:ext cx="59330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</a:rPr>
              <a:t>左移动是否被</a:t>
            </a:r>
            <a:r>
              <a:rPr lang="en-US" altLang="zh-CN" sz="3200" dirty="0">
                <a:solidFill>
                  <a:schemeClr val="bg1"/>
                </a:solidFill>
              </a:rPr>
              <a:t>shiKuai</a:t>
            </a:r>
            <a:r>
              <a:rPr lang="zh-CN" altLang="en-US" sz="3200" dirty="0">
                <a:solidFill>
                  <a:schemeClr val="bg1"/>
                </a:solidFill>
              </a:rPr>
              <a:t>阻挡的判断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F4EE434-AEC4-444D-AB4B-149CD59FD6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9007" y="4183143"/>
            <a:ext cx="2872989" cy="2027096"/>
          </a:xfrm>
          <a:prstGeom prst="rect">
            <a:avLst/>
          </a:prstGeom>
        </p:spPr>
      </p:pic>
      <p:pic>
        <p:nvPicPr>
          <p:cNvPr id="8" name="图形 7" descr="箭头: 向左旋转 纯色填充">
            <a:extLst>
              <a:ext uri="{FF2B5EF4-FFF2-40B4-BE49-F238E27FC236}">
                <a16:creationId xmlns:a16="http://schemas.microsoft.com/office/drawing/2014/main" id="{73B65DAF-582E-4ADF-BF81-F58E43E3EC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94996" y="4589674"/>
            <a:ext cx="509048" cy="450130"/>
          </a:xfrm>
          <a:prstGeom prst="rect">
            <a:avLst/>
          </a:prstGeom>
        </p:spPr>
      </p:pic>
      <p:sp>
        <p:nvSpPr>
          <p:cNvPr id="9" name="对话气泡: 圆角矩形 8">
            <a:extLst>
              <a:ext uri="{FF2B5EF4-FFF2-40B4-BE49-F238E27FC236}">
                <a16:creationId xmlns:a16="http://schemas.microsoft.com/office/drawing/2014/main" id="{4DD2EB26-4B0A-454A-8F14-D5984786A2B8}"/>
              </a:ext>
            </a:extLst>
          </p:cNvPr>
          <p:cNvSpPr/>
          <p:nvPr/>
        </p:nvSpPr>
        <p:spPr>
          <a:xfrm>
            <a:off x="1736507" y="3749510"/>
            <a:ext cx="3825000" cy="433633"/>
          </a:xfrm>
          <a:prstGeom prst="wedgeRoundRectCallout">
            <a:avLst>
              <a:gd name="adj1" fmla="val -47381"/>
              <a:gd name="adj2" fmla="val 175544"/>
              <a:gd name="adj3" fmla="val 16667"/>
            </a:avLst>
          </a:prstGeom>
          <a:solidFill>
            <a:schemeClr val="dk1">
              <a:alpha val="57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左移前，同行前</a:t>
            </a:r>
            <a:r>
              <a:rPr lang="en-US" altLang="zh-CN" dirty="0"/>
              <a:t>1</a:t>
            </a:r>
            <a:r>
              <a:rPr lang="zh-CN" altLang="en-US" dirty="0"/>
              <a:t>列是否有方块</a:t>
            </a:r>
          </a:p>
        </p:txBody>
      </p:sp>
      <p:pic>
        <p:nvPicPr>
          <p:cNvPr id="10" name="图形 9" descr="箭头: 向左旋转 纯色填充">
            <a:extLst>
              <a:ext uri="{FF2B5EF4-FFF2-40B4-BE49-F238E27FC236}">
                <a16:creationId xmlns:a16="http://schemas.microsoft.com/office/drawing/2014/main" id="{453AAA63-79E9-4BAF-BAD5-FBDCC44FBC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17856" y="4589674"/>
            <a:ext cx="509048" cy="450130"/>
          </a:xfrm>
          <a:prstGeom prst="rect">
            <a:avLst/>
          </a:prstGeom>
        </p:spPr>
      </p:pic>
      <p:sp>
        <p:nvSpPr>
          <p:cNvPr id="11" name="对话气泡: 圆角矩形 10">
            <a:extLst>
              <a:ext uri="{FF2B5EF4-FFF2-40B4-BE49-F238E27FC236}">
                <a16:creationId xmlns:a16="http://schemas.microsoft.com/office/drawing/2014/main" id="{0EA40F83-68B0-4434-A264-68C7C73A2279}"/>
              </a:ext>
            </a:extLst>
          </p:cNvPr>
          <p:cNvSpPr/>
          <p:nvPr/>
        </p:nvSpPr>
        <p:spPr>
          <a:xfrm>
            <a:off x="1735604" y="3740083"/>
            <a:ext cx="3825000" cy="433633"/>
          </a:xfrm>
          <a:prstGeom prst="wedgeRoundRectCallout">
            <a:avLst>
              <a:gd name="adj1" fmla="val 32963"/>
              <a:gd name="adj2" fmla="val 192935"/>
              <a:gd name="adj3" fmla="val 16667"/>
            </a:avLst>
          </a:prstGeom>
          <a:solidFill>
            <a:schemeClr val="dk1">
              <a:alpha val="57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左移前，同行前</a:t>
            </a:r>
            <a:r>
              <a:rPr lang="en-US" altLang="zh-CN" dirty="0"/>
              <a:t>1</a:t>
            </a:r>
            <a:r>
              <a:rPr lang="zh-CN" altLang="en-US" dirty="0"/>
              <a:t>列是否有方块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A51B938F-C961-4BEB-8267-CE883E1FCB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75598" y="2306623"/>
            <a:ext cx="2796782" cy="1112616"/>
          </a:xfrm>
          <a:prstGeom prst="rect">
            <a:avLst/>
          </a:prstGeom>
        </p:spPr>
      </p:pic>
      <p:sp>
        <p:nvSpPr>
          <p:cNvPr id="16" name="右大括号 15">
            <a:extLst>
              <a:ext uri="{FF2B5EF4-FFF2-40B4-BE49-F238E27FC236}">
                <a16:creationId xmlns:a16="http://schemas.microsoft.com/office/drawing/2014/main" id="{06CB5E6B-0DBF-4786-A0E8-C2637454341F}"/>
              </a:ext>
            </a:extLst>
          </p:cNvPr>
          <p:cNvSpPr/>
          <p:nvPr/>
        </p:nvSpPr>
        <p:spPr>
          <a:xfrm rot="5400000" flipH="1">
            <a:off x="3520508" y="956079"/>
            <a:ext cx="307776" cy="2558260"/>
          </a:xfrm>
          <a:prstGeom prst="rightBrace">
            <a:avLst>
              <a:gd name="adj1" fmla="val 16652"/>
              <a:gd name="adj2" fmla="val 49631"/>
            </a:avLst>
          </a:prstGeom>
          <a:solidFill>
            <a:srgbClr val="FF0000">
              <a:alpha val="49000"/>
            </a:srgbClr>
          </a:solidFill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2D4C978-53A5-4956-8498-CB943CC0C3F3}"/>
              </a:ext>
            </a:extLst>
          </p:cNvPr>
          <p:cNvSpPr txBox="1"/>
          <p:nvPr/>
        </p:nvSpPr>
        <p:spPr>
          <a:xfrm>
            <a:off x="2570186" y="1706088"/>
            <a:ext cx="22461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</a:rPr>
              <a:t>从</a:t>
            </a:r>
            <a:r>
              <a:rPr lang="en-US" altLang="zh-CN" sz="1600" dirty="0">
                <a:solidFill>
                  <a:schemeClr val="bg1"/>
                </a:solidFill>
              </a:rPr>
              <a:t>1</a:t>
            </a:r>
            <a:r>
              <a:rPr lang="zh-CN" altLang="en-US" sz="1600" dirty="0">
                <a:solidFill>
                  <a:schemeClr val="bg1"/>
                </a:solidFill>
              </a:rPr>
              <a:t>到</a:t>
            </a:r>
            <a:r>
              <a:rPr lang="en-US" altLang="zh-CN" sz="1600" dirty="0">
                <a:solidFill>
                  <a:schemeClr val="bg1"/>
                </a:solidFill>
              </a:rPr>
              <a:t>9</a:t>
            </a:r>
            <a:r>
              <a:rPr lang="zh-CN" altLang="en-US" sz="1600" dirty="0">
                <a:solidFill>
                  <a:schemeClr val="bg1"/>
                </a:solidFill>
              </a:rPr>
              <a:t>寻找左移的方块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B33E67A2-644C-4DBC-B649-0B0B9EDF1A2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6099" y="1139114"/>
            <a:ext cx="3320635" cy="3012931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D423DA48-D708-4E16-B21D-04254BC788B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44177" y="3966326"/>
            <a:ext cx="3507163" cy="282012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819215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8A009C8-637A-4E87-BD14-061983E7D3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1857" y="845412"/>
            <a:ext cx="4709568" cy="5037257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01A71CDE-A5A5-4C9D-AD15-3FACCDCE552C}"/>
              </a:ext>
            </a:extLst>
          </p:cNvPr>
          <p:cNvSpPr txBox="1"/>
          <p:nvPr/>
        </p:nvSpPr>
        <p:spPr>
          <a:xfrm>
            <a:off x="8459682" y="260637"/>
            <a:ext cx="21339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</a:rPr>
              <a:t>消行</a:t>
            </a:r>
            <a:r>
              <a:rPr lang="zh-CN" altLang="en-US" sz="2400" dirty="0">
                <a:solidFill>
                  <a:schemeClr val="bg1"/>
                </a:solidFill>
              </a:rPr>
              <a:t>的</a:t>
            </a:r>
            <a:r>
              <a:rPr lang="zh-CN" altLang="en-US" sz="3200" dirty="0">
                <a:solidFill>
                  <a:schemeClr val="bg1"/>
                </a:solidFill>
              </a:rPr>
              <a:t>逻辑</a:t>
            </a:r>
          </a:p>
        </p:txBody>
      </p:sp>
      <p:pic>
        <p:nvPicPr>
          <p:cNvPr id="5" name="找到能消掉的行">
            <a:hlinkClick r:id="" action="ppaction://media"/>
            <a:extLst>
              <a:ext uri="{FF2B5EF4-FFF2-40B4-BE49-F238E27FC236}">
                <a16:creationId xmlns:a16="http://schemas.microsoft.com/office/drawing/2014/main" id="{873C9C87-43F4-4CF3-9343-E81FCC1A22B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473932" y="260637"/>
            <a:ext cx="3159888" cy="5776858"/>
          </a:xfrm>
          <a:prstGeom prst="rect">
            <a:avLst/>
          </a:prstGeom>
        </p:spPr>
      </p:pic>
      <p:pic>
        <p:nvPicPr>
          <p:cNvPr id="6" name="消掉此行">
            <a:hlinkClick r:id="" action="ppaction://media"/>
            <a:extLst>
              <a:ext uri="{FF2B5EF4-FFF2-40B4-BE49-F238E27FC236}">
                <a16:creationId xmlns:a16="http://schemas.microsoft.com/office/drawing/2014/main" id="{14709772-7195-499D-8D8D-045AFA28682C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3732319" y="260637"/>
            <a:ext cx="3159887" cy="577685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A4B06EC6-0F15-49EC-875A-E04D67E1CE61}"/>
              </a:ext>
            </a:extLst>
          </p:cNvPr>
          <p:cNvSpPr txBox="1"/>
          <p:nvPr/>
        </p:nvSpPr>
        <p:spPr>
          <a:xfrm>
            <a:off x="1041751" y="6107967"/>
            <a:ext cx="22846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从</a:t>
            </a:r>
            <a:r>
              <a:rPr lang="en-US" altLang="zh-CN" sz="1600" dirty="0">
                <a:solidFill>
                  <a:schemeClr val="bg1"/>
                </a:solidFill>
              </a:rPr>
              <a:t>0~20</a:t>
            </a:r>
            <a:r>
              <a:rPr lang="zh-CN" altLang="en-US" sz="1600" dirty="0">
                <a:solidFill>
                  <a:schemeClr val="bg1"/>
                </a:solidFill>
              </a:rPr>
              <a:t>行，逐行寻找，</a:t>
            </a:r>
            <a:endParaRPr lang="en-US" altLang="zh-CN" sz="1600" dirty="0">
              <a:solidFill>
                <a:schemeClr val="bg1"/>
              </a:solidFill>
            </a:endParaRPr>
          </a:p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找到要消掉的行</a:t>
            </a:r>
          </a:p>
        </p:txBody>
      </p:sp>
      <p:sp>
        <p:nvSpPr>
          <p:cNvPr id="8" name="右大括号 7">
            <a:extLst>
              <a:ext uri="{FF2B5EF4-FFF2-40B4-BE49-F238E27FC236}">
                <a16:creationId xmlns:a16="http://schemas.microsoft.com/office/drawing/2014/main" id="{564AEA03-7DA0-4D3F-80D2-12A7DDA061CA}"/>
              </a:ext>
            </a:extLst>
          </p:cNvPr>
          <p:cNvSpPr/>
          <p:nvPr/>
        </p:nvSpPr>
        <p:spPr>
          <a:xfrm flipH="1">
            <a:off x="53488" y="260637"/>
            <a:ext cx="622760" cy="5766514"/>
          </a:xfrm>
          <a:prstGeom prst="rightBrace">
            <a:avLst>
              <a:gd name="adj1" fmla="val 0"/>
              <a:gd name="adj2" fmla="val 50000"/>
            </a:avLst>
          </a:prstGeom>
          <a:solidFill>
            <a:srgbClr val="FF0000">
              <a:alpha val="49000"/>
            </a:srgbClr>
          </a:solidFill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66B9D911-4CC7-4E24-B522-8BC2C5111A94}"/>
              </a:ext>
            </a:extLst>
          </p:cNvPr>
          <p:cNvSpPr/>
          <p:nvPr/>
        </p:nvSpPr>
        <p:spPr>
          <a:xfrm>
            <a:off x="676248" y="5202105"/>
            <a:ext cx="6627377" cy="656498"/>
          </a:xfrm>
          <a:prstGeom prst="rightArrow">
            <a:avLst/>
          </a:prstGeom>
          <a:solidFill>
            <a:srgbClr val="92D05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E8A8986-2E4D-4C5D-891B-983080B3C8B1}"/>
              </a:ext>
            </a:extLst>
          </p:cNvPr>
          <p:cNvSpPr txBox="1"/>
          <p:nvPr/>
        </p:nvSpPr>
        <p:spPr>
          <a:xfrm>
            <a:off x="4040143" y="6107967"/>
            <a:ext cx="28520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从被消掉的上一行依次下落，</a:t>
            </a:r>
            <a:endParaRPr lang="en-US" altLang="zh-CN" sz="1600" dirty="0">
              <a:solidFill>
                <a:schemeClr val="bg1"/>
              </a:solidFill>
            </a:endParaRPr>
          </a:p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直到到第</a:t>
            </a:r>
            <a:r>
              <a:rPr lang="en-US" altLang="zh-CN" sz="1600" dirty="0">
                <a:solidFill>
                  <a:schemeClr val="bg1"/>
                </a:solidFill>
              </a:rPr>
              <a:t>0</a:t>
            </a:r>
            <a:r>
              <a:rPr lang="zh-CN" altLang="en-US" sz="1600" dirty="0">
                <a:solidFill>
                  <a:schemeClr val="bg1"/>
                </a:solidFill>
              </a:rPr>
              <a:t>行</a:t>
            </a:r>
          </a:p>
        </p:txBody>
      </p:sp>
    </p:spTree>
    <p:extLst>
      <p:ext uri="{BB962C8B-B14F-4D97-AF65-F5344CB8AC3E}">
        <p14:creationId xmlns:p14="http://schemas.microsoft.com/office/powerpoint/2010/main" val="3613647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7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24033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1BA69D63-96B7-4EE7-9340-B081AAB1D3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6146" y="799223"/>
            <a:ext cx="2895851" cy="5738357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AEF7FEB5-5116-4836-B438-C65036273C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458" y="799223"/>
            <a:ext cx="2872989" cy="576884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E75F97B-8A90-4AD9-B896-DF5E3628C9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2696" y="1621024"/>
            <a:ext cx="2872989" cy="2965125"/>
          </a:xfrm>
          <a:prstGeom prst="rect">
            <a:avLst/>
          </a:prstGeom>
        </p:spPr>
      </p:pic>
      <p:sp>
        <p:nvSpPr>
          <p:cNvPr id="6" name="箭头: 右 5">
            <a:extLst>
              <a:ext uri="{FF2B5EF4-FFF2-40B4-BE49-F238E27FC236}">
                <a16:creationId xmlns:a16="http://schemas.microsoft.com/office/drawing/2014/main" id="{B2D359D7-B9FD-4C1D-A552-ED839118DD7E}"/>
              </a:ext>
            </a:extLst>
          </p:cNvPr>
          <p:cNvSpPr/>
          <p:nvPr/>
        </p:nvSpPr>
        <p:spPr>
          <a:xfrm>
            <a:off x="932458" y="618531"/>
            <a:ext cx="6627377" cy="656498"/>
          </a:xfrm>
          <a:prstGeom prst="rightArrow">
            <a:avLst/>
          </a:prstGeom>
          <a:solidFill>
            <a:srgbClr val="92D05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对话气泡: 矩形 8">
            <a:extLst>
              <a:ext uri="{FF2B5EF4-FFF2-40B4-BE49-F238E27FC236}">
                <a16:creationId xmlns:a16="http://schemas.microsoft.com/office/drawing/2014/main" id="{E625834E-0280-48D6-81B1-C23A3EEBF6F0}"/>
              </a:ext>
            </a:extLst>
          </p:cNvPr>
          <p:cNvSpPr/>
          <p:nvPr/>
        </p:nvSpPr>
        <p:spPr>
          <a:xfrm>
            <a:off x="7559835" y="629852"/>
            <a:ext cx="2773765" cy="783866"/>
          </a:xfrm>
          <a:prstGeom prst="wedgeRectCallout">
            <a:avLst>
              <a:gd name="adj1" fmla="val -74607"/>
              <a:gd name="adj2" fmla="val -241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看第</a:t>
            </a:r>
            <a:r>
              <a:rPr lang="en-US" altLang="zh-CN" dirty="0"/>
              <a:t>0</a:t>
            </a:r>
            <a:r>
              <a:rPr lang="zh-CN" altLang="en-US" dirty="0"/>
              <a:t>行是否有方块</a:t>
            </a:r>
            <a:endParaRPr lang="en-US" altLang="zh-CN" dirty="0"/>
          </a:p>
          <a:p>
            <a:pPr algn="ctr"/>
            <a:r>
              <a:rPr lang="zh-CN" altLang="en-US" dirty="0"/>
              <a:t>如果有，代表游戏结束</a:t>
            </a:r>
          </a:p>
        </p:txBody>
      </p:sp>
    </p:spTree>
    <p:extLst>
      <p:ext uri="{BB962C8B-B14F-4D97-AF65-F5344CB8AC3E}">
        <p14:creationId xmlns:p14="http://schemas.microsoft.com/office/powerpoint/2010/main" val="2673778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D9CE68B-0414-41A2-9D44-CE3F11131530}"/>
              </a:ext>
            </a:extLst>
          </p:cNvPr>
          <p:cNvSpPr txBox="1"/>
          <p:nvPr/>
        </p:nvSpPr>
        <p:spPr>
          <a:xfrm>
            <a:off x="3177540" y="3341878"/>
            <a:ext cx="62653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3600" b="1" dirty="0">
                <a:solidFill>
                  <a:schemeClr val="bg1"/>
                </a:solidFill>
              </a:rPr>
              <a:t>以下为方块旋转的处理算法</a:t>
            </a:r>
          </a:p>
        </p:txBody>
      </p:sp>
    </p:spTree>
    <p:extLst>
      <p:ext uri="{BB962C8B-B14F-4D97-AF65-F5344CB8AC3E}">
        <p14:creationId xmlns:p14="http://schemas.microsoft.com/office/powerpoint/2010/main" val="9483042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2">
            <a:extLst>
              <a:ext uri="{FF2B5EF4-FFF2-40B4-BE49-F238E27FC236}">
                <a16:creationId xmlns:a16="http://schemas.microsoft.com/office/drawing/2014/main" id="{AEE326C2-BF40-4DA5-8F02-467FCD1E87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5036046"/>
              </p:ext>
            </p:extLst>
          </p:nvPr>
        </p:nvGraphicFramePr>
        <p:xfrm>
          <a:off x="2943216" y="1673805"/>
          <a:ext cx="2632600" cy="25096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8150">
                  <a:extLst>
                    <a:ext uri="{9D8B030D-6E8A-4147-A177-3AD203B41FA5}">
                      <a16:colId xmlns:a16="http://schemas.microsoft.com/office/drawing/2014/main" val="3619173822"/>
                    </a:ext>
                  </a:extLst>
                </a:gridCol>
                <a:gridCol w="658150">
                  <a:extLst>
                    <a:ext uri="{9D8B030D-6E8A-4147-A177-3AD203B41FA5}">
                      <a16:colId xmlns:a16="http://schemas.microsoft.com/office/drawing/2014/main" val="3305880127"/>
                    </a:ext>
                  </a:extLst>
                </a:gridCol>
                <a:gridCol w="658150">
                  <a:extLst>
                    <a:ext uri="{9D8B030D-6E8A-4147-A177-3AD203B41FA5}">
                      <a16:colId xmlns:a16="http://schemas.microsoft.com/office/drawing/2014/main" val="436263597"/>
                    </a:ext>
                  </a:extLst>
                </a:gridCol>
                <a:gridCol w="658150">
                  <a:extLst>
                    <a:ext uri="{9D8B030D-6E8A-4147-A177-3AD203B41FA5}">
                      <a16:colId xmlns:a16="http://schemas.microsoft.com/office/drawing/2014/main" val="1412014204"/>
                    </a:ext>
                  </a:extLst>
                </a:gridCol>
              </a:tblGrid>
              <a:tr h="627418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00</a:t>
                      </a:r>
                      <a:endParaRPr lang="zh-CN" altLang="en-US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01</a:t>
                      </a:r>
                      <a:endParaRPr lang="zh-CN" altLang="en-US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02</a:t>
                      </a:r>
                      <a:endParaRPr lang="zh-CN" altLang="en-US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03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9031102"/>
                  </a:ext>
                </a:extLst>
              </a:tr>
              <a:tr h="627418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11</a:t>
                      </a:r>
                      <a:endParaRPr lang="zh-CN" altLang="en-US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12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13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2460095"/>
                  </a:ext>
                </a:extLst>
              </a:tr>
              <a:tr h="627418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20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21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22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23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60702"/>
                  </a:ext>
                </a:extLst>
              </a:tr>
              <a:tr h="627418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30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31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32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33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3134088"/>
                  </a:ext>
                </a:extLst>
              </a:tr>
            </a:tbl>
          </a:graphicData>
        </a:graphic>
      </p:graphicFrame>
      <p:graphicFrame>
        <p:nvGraphicFramePr>
          <p:cNvPr id="6" name="表格 2">
            <a:extLst>
              <a:ext uri="{FF2B5EF4-FFF2-40B4-BE49-F238E27FC236}">
                <a16:creationId xmlns:a16="http://schemas.microsoft.com/office/drawing/2014/main" id="{E3BE7729-0775-4DBD-8199-2C0A6E9F86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2905125"/>
              </p:ext>
            </p:extLst>
          </p:nvPr>
        </p:nvGraphicFramePr>
        <p:xfrm>
          <a:off x="5954564" y="1673805"/>
          <a:ext cx="2632600" cy="25096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8150">
                  <a:extLst>
                    <a:ext uri="{9D8B030D-6E8A-4147-A177-3AD203B41FA5}">
                      <a16:colId xmlns:a16="http://schemas.microsoft.com/office/drawing/2014/main" val="3619173822"/>
                    </a:ext>
                  </a:extLst>
                </a:gridCol>
                <a:gridCol w="658150">
                  <a:extLst>
                    <a:ext uri="{9D8B030D-6E8A-4147-A177-3AD203B41FA5}">
                      <a16:colId xmlns:a16="http://schemas.microsoft.com/office/drawing/2014/main" val="3305880127"/>
                    </a:ext>
                  </a:extLst>
                </a:gridCol>
                <a:gridCol w="658150">
                  <a:extLst>
                    <a:ext uri="{9D8B030D-6E8A-4147-A177-3AD203B41FA5}">
                      <a16:colId xmlns:a16="http://schemas.microsoft.com/office/drawing/2014/main" val="436263597"/>
                    </a:ext>
                  </a:extLst>
                </a:gridCol>
                <a:gridCol w="658150">
                  <a:extLst>
                    <a:ext uri="{9D8B030D-6E8A-4147-A177-3AD203B41FA5}">
                      <a16:colId xmlns:a16="http://schemas.microsoft.com/office/drawing/2014/main" val="1412014204"/>
                    </a:ext>
                  </a:extLst>
                </a:gridCol>
              </a:tblGrid>
              <a:tr h="627418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00</a:t>
                      </a:r>
                      <a:endParaRPr lang="zh-CN" altLang="en-US" dirty="0"/>
                    </a:p>
                  </a:txBody>
                  <a:tcPr anchor="ctr"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01</a:t>
                      </a:r>
                      <a:endParaRPr lang="zh-CN" altLang="en-US" dirty="0"/>
                    </a:p>
                  </a:txBody>
                  <a:tcPr anchor="ctr"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02</a:t>
                      </a:r>
                      <a:endParaRPr lang="zh-CN" altLang="en-US" dirty="0"/>
                    </a:p>
                  </a:txBody>
                  <a:tcPr anchor="ctr"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03</a:t>
                      </a:r>
                      <a:endParaRPr lang="zh-CN" altLang="en-US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9031102"/>
                  </a:ext>
                </a:extLst>
              </a:tr>
              <a:tr h="627418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 anchor="ctr"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11</a:t>
                      </a:r>
                      <a:endParaRPr lang="zh-CN" altLang="en-US" dirty="0"/>
                    </a:p>
                  </a:txBody>
                  <a:tcPr anchor="ctr"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12</a:t>
                      </a:r>
                      <a:endParaRPr lang="zh-CN" altLang="en-US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13</a:t>
                      </a:r>
                      <a:endParaRPr lang="zh-CN" altLang="en-US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2460095"/>
                  </a:ext>
                </a:extLst>
              </a:tr>
              <a:tr h="627418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20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21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22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23</a:t>
                      </a:r>
                      <a:endParaRPr lang="zh-CN" altLang="en-US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60702"/>
                  </a:ext>
                </a:extLst>
              </a:tr>
              <a:tr h="627418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30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31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32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33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3134088"/>
                  </a:ext>
                </a:extLst>
              </a:tr>
            </a:tbl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875B34B4-7382-43CB-BE26-69176BC9DB2B}"/>
              </a:ext>
            </a:extLst>
          </p:cNvPr>
          <p:cNvSpPr/>
          <p:nvPr/>
        </p:nvSpPr>
        <p:spPr>
          <a:xfrm>
            <a:off x="2993103" y="3622429"/>
            <a:ext cx="2532826" cy="481837"/>
          </a:xfrm>
          <a:prstGeom prst="rect">
            <a:avLst/>
          </a:prstGeom>
          <a:noFill/>
          <a:ln w="22225"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2B39A78-0D47-455C-B354-993589A7D7F3}"/>
              </a:ext>
            </a:extLst>
          </p:cNvPr>
          <p:cNvSpPr/>
          <p:nvPr/>
        </p:nvSpPr>
        <p:spPr>
          <a:xfrm>
            <a:off x="2993103" y="2375663"/>
            <a:ext cx="2532826" cy="481837"/>
          </a:xfrm>
          <a:prstGeom prst="rect">
            <a:avLst/>
          </a:prstGeom>
          <a:noFill/>
          <a:ln w="22225"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EE3E2C6-9547-4472-AC36-79D9577B1221}"/>
              </a:ext>
            </a:extLst>
          </p:cNvPr>
          <p:cNvSpPr/>
          <p:nvPr/>
        </p:nvSpPr>
        <p:spPr>
          <a:xfrm>
            <a:off x="2993103" y="2989202"/>
            <a:ext cx="2532826" cy="481837"/>
          </a:xfrm>
          <a:prstGeom prst="rect">
            <a:avLst/>
          </a:prstGeom>
          <a:noFill/>
          <a:ln w="22225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166E469-C0F1-4F8F-AB0B-A7C4E464CB1B}"/>
              </a:ext>
            </a:extLst>
          </p:cNvPr>
          <p:cNvSpPr/>
          <p:nvPr/>
        </p:nvSpPr>
        <p:spPr>
          <a:xfrm>
            <a:off x="2993103" y="1746883"/>
            <a:ext cx="2532826" cy="481837"/>
          </a:xfrm>
          <a:prstGeom prst="rect">
            <a:avLst/>
          </a:prstGeom>
          <a:noFill/>
          <a:ln w="222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D26B892-6B6B-4293-890B-61F6D8BC6B1D}"/>
              </a:ext>
            </a:extLst>
          </p:cNvPr>
          <p:cNvSpPr/>
          <p:nvPr/>
        </p:nvSpPr>
        <p:spPr>
          <a:xfrm rot="5400000">
            <a:off x="7073704" y="2684657"/>
            <a:ext cx="2357384" cy="481837"/>
          </a:xfrm>
          <a:prstGeom prst="rect">
            <a:avLst/>
          </a:prstGeom>
          <a:noFill/>
          <a:ln w="222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5683DDD-B2B7-4E27-A0F7-44A390E258F6}"/>
              </a:ext>
            </a:extLst>
          </p:cNvPr>
          <p:cNvSpPr/>
          <p:nvPr/>
        </p:nvSpPr>
        <p:spPr>
          <a:xfrm rot="5400000">
            <a:off x="6402492" y="2684657"/>
            <a:ext cx="2357384" cy="481837"/>
          </a:xfrm>
          <a:prstGeom prst="rect">
            <a:avLst/>
          </a:prstGeom>
          <a:noFill/>
          <a:ln w="22225"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AA7AE30-C27F-4EF6-AD9A-7B5A2ED35824}"/>
              </a:ext>
            </a:extLst>
          </p:cNvPr>
          <p:cNvSpPr/>
          <p:nvPr/>
        </p:nvSpPr>
        <p:spPr>
          <a:xfrm rot="5400000">
            <a:off x="5785720" y="2684657"/>
            <a:ext cx="2357384" cy="481838"/>
          </a:xfrm>
          <a:prstGeom prst="rect">
            <a:avLst/>
          </a:prstGeom>
          <a:noFill/>
          <a:ln w="22225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B5D5FC7-6B7A-4AFD-8DD4-37AC24A5C861}"/>
              </a:ext>
            </a:extLst>
          </p:cNvPr>
          <p:cNvSpPr/>
          <p:nvPr/>
        </p:nvSpPr>
        <p:spPr>
          <a:xfrm rot="5400000">
            <a:off x="5114508" y="2684657"/>
            <a:ext cx="2357384" cy="481837"/>
          </a:xfrm>
          <a:prstGeom prst="rect">
            <a:avLst/>
          </a:prstGeom>
          <a:noFill/>
          <a:ln w="22225"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3113732-BE4D-454D-B46F-93CBF6177E69}"/>
              </a:ext>
            </a:extLst>
          </p:cNvPr>
          <p:cNvSpPr txBox="1"/>
          <p:nvPr/>
        </p:nvSpPr>
        <p:spPr>
          <a:xfrm>
            <a:off x="3779455" y="1053956"/>
            <a:ext cx="14666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A</a:t>
            </a:r>
            <a:r>
              <a:rPr lang="zh-CN" altLang="en-US" sz="2400" b="1" dirty="0">
                <a:solidFill>
                  <a:schemeClr val="bg1"/>
                </a:solidFill>
              </a:rPr>
              <a:t>数组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46FAF30-3A54-443D-AFE7-EE915626A910}"/>
              </a:ext>
            </a:extLst>
          </p:cNvPr>
          <p:cNvSpPr txBox="1"/>
          <p:nvPr/>
        </p:nvSpPr>
        <p:spPr>
          <a:xfrm>
            <a:off x="6964412" y="1017846"/>
            <a:ext cx="14666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B</a:t>
            </a:r>
            <a:r>
              <a:rPr lang="zh-CN" altLang="en-US" sz="2400" b="1" dirty="0">
                <a:solidFill>
                  <a:schemeClr val="bg1"/>
                </a:solidFill>
              </a:rPr>
              <a:t>数组</a:t>
            </a:r>
          </a:p>
        </p:txBody>
      </p:sp>
      <p:sp>
        <p:nvSpPr>
          <p:cNvPr id="23" name="箭头: 右 22">
            <a:extLst>
              <a:ext uri="{FF2B5EF4-FFF2-40B4-BE49-F238E27FC236}">
                <a16:creationId xmlns:a16="http://schemas.microsoft.com/office/drawing/2014/main" id="{76B4DB2F-AC41-4ADE-82C9-324B9716F478}"/>
              </a:ext>
            </a:extLst>
          </p:cNvPr>
          <p:cNvSpPr/>
          <p:nvPr/>
        </p:nvSpPr>
        <p:spPr>
          <a:xfrm>
            <a:off x="4998721" y="1053956"/>
            <a:ext cx="1535398" cy="488147"/>
          </a:xfrm>
          <a:prstGeom prst="rightArrow">
            <a:avLst/>
          </a:prstGeom>
          <a:solidFill>
            <a:schemeClr val="accent1">
              <a:alpha val="2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赋值</a:t>
            </a:r>
          </a:p>
        </p:txBody>
      </p:sp>
      <p:graphicFrame>
        <p:nvGraphicFramePr>
          <p:cNvPr id="24" name="表格 24">
            <a:extLst>
              <a:ext uri="{FF2B5EF4-FFF2-40B4-BE49-F238E27FC236}">
                <a16:creationId xmlns:a16="http://schemas.microsoft.com/office/drawing/2014/main" id="{0A46523A-D673-4956-B0EA-AA3FC9E833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2350751"/>
              </p:ext>
            </p:extLst>
          </p:nvPr>
        </p:nvGraphicFramePr>
        <p:xfrm>
          <a:off x="1114843" y="4641669"/>
          <a:ext cx="1236980" cy="19884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8490">
                  <a:extLst>
                    <a:ext uri="{9D8B030D-6E8A-4147-A177-3AD203B41FA5}">
                      <a16:colId xmlns:a16="http://schemas.microsoft.com/office/drawing/2014/main" val="1441776945"/>
                    </a:ext>
                  </a:extLst>
                </a:gridCol>
                <a:gridCol w="618490">
                  <a:extLst>
                    <a:ext uri="{9D8B030D-6E8A-4147-A177-3AD203B41FA5}">
                      <a16:colId xmlns:a16="http://schemas.microsoft.com/office/drawing/2014/main" val="2769097364"/>
                    </a:ext>
                  </a:extLst>
                </a:gridCol>
              </a:tblGrid>
              <a:tr h="49711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00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0720605"/>
                  </a:ext>
                </a:extLst>
              </a:tr>
              <a:tr h="49711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01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8497103"/>
                  </a:ext>
                </a:extLst>
              </a:tr>
              <a:tr h="49711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02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23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732362"/>
                  </a:ext>
                </a:extLst>
              </a:tr>
              <a:tr h="49711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33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6208419"/>
                  </a:ext>
                </a:extLst>
              </a:tr>
            </a:tbl>
          </a:graphicData>
        </a:graphic>
      </p:graphicFrame>
      <p:graphicFrame>
        <p:nvGraphicFramePr>
          <p:cNvPr id="26" name="表格 24">
            <a:extLst>
              <a:ext uri="{FF2B5EF4-FFF2-40B4-BE49-F238E27FC236}">
                <a16:creationId xmlns:a16="http://schemas.microsoft.com/office/drawing/2014/main" id="{C12C8FD9-C358-449D-A419-ABBFEDDB4B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3506249"/>
              </p:ext>
            </p:extLst>
          </p:nvPr>
        </p:nvGraphicFramePr>
        <p:xfrm>
          <a:off x="2588907" y="4641669"/>
          <a:ext cx="1236980" cy="19884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8490">
                  <a:extLst>
                    <a:ext uri="{9D8B030D-6E8A-4147-A177-3AD203B41FA5}">
                      <a16:colId xmlns:a16="http://schemas.microsoft.com/office/drawing/2014/main" val="1441776945"/>
                    </a:ext>
                  </a:extLst>
                </a:gridCol>
                <a:gridCol w="618490">
                  <a:extLst>
                    <a:ext uri="{9D8B030D-6E8A-4147-A177-3AD203B41FA5}">
                      <a16:colId xmlns:a16="http://schemas.microsoft.com/office/drawing/2014/main" val="2769097364"/>
                    </a:ext>
                  </a:extLst>
                </a:gridCol>
              </a:tblGrid>
              <a:tr h="49711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02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0720605"/>
                  </a:ext>
                </a:extLst>
              </a:tr>
              <a:tr h="49711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8497103"/>
                  </a:ext>
                </a:extLst>
              </a:tr>
              <a:tr h="49711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22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732362"/>
                  </a:ext>
                </a:extLst>
              </a:tr>
              <a:tr h="49711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32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6208419"/>
                  </a:ext>
                </a:extLst>
              </a:tr>
            </a:tbl>
          </a:graphicData>
        </a:graphic>
      </p:graphicFrame>
      <p:graphicFrame>
        <p:nvGraphicFramePr>
          <p:cNvPr id="27" name="表格 24">
            <a:extLst>
              <a:ext uri="{FF2B5EF4-FFF2-40B4-BE49-F238E27FC236}">
                <a16:creationId xmlns:a16="http://schemas.microsoft.com/office/drawing/2014/main" id="{246B1EE4-6F61-443C-A969-74C9F9D864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5013426"/>
              </p:ext>
            </p:extLst>
          </p:nvPr>
        </p:nvGraphicFramePr>
        <p:xfrm>
          <a:off x="4062971" y="4641669"/>
          <a:ext cx="1236980" cy="19884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8490">
                  <a:extLst>
                    <a:ext uri="{9D8B030D-6E8A-4147-A177-3AD203B41FA5}">
                      <a16:colId xmlns:a16="http://schemas.microsoft.com/office/drawing/2014/main" val="1441776945"/>
                    </a:ext>
                  </a:extLst>
                </a:gridCol>
                <a:gridCol w="618490">
                  <a:extLst>
                    <a:ext uri="{9D8B030D-6E8A-4147-A177-3AD203B41FA5}">
                      <a16:colId xmlns:a16="http://schemas.microsoft.com/office/drawing/2014/main" val="2769097364"/>
                    </a:ext>
                  </a:extLst>
                </a:gridCol>
              </a:tblGrid>
              <a:tr h="49711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01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0720605"/>
                  </a:ext>
                </a:extLst>
              </a:tr>
              <a:tr h="49711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21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8497103"/>
                  </a:ext>
                </a:extLst>
              </a:tr>
              <a:tr h="49711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22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21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732362"/>
                  </a:ext>
                </a:extLst>
              </a:tr>
              <a:tr h="49711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23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31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6208419"/>
                  </a:ext>
                </a:extLst>
              </a:tr>
            </a:tbl>
          </a:graphicData>
        </a:graphic>
      </p:graphicFrame>
      <p:graphicFrame>
        <p:nvGraphicFramePr>
          <p:cNvPr id="28" name="表格 24">
            <a:extLst>
              <a:ext uri="{FF2B5EF4-FFF2-40B4-BE49-F238E27FC236}">
                <a16:creationId xmlns:a16="http://schemas.microsoft.com/office/drawing/2014/main" id="{C2B6BD5E-E7FB-40DA-8058-7156E93728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8356287"/>
              </p:ext>
            </p:extLst>
          </p:nvPr>
        </p:nvGraphicFramePr>
        <p:xfrm>
          <a:off x="5533549" y="4641669"/>
          <a:ext cx="1236980" cy="19884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8490">
                  <a:extLst>
                    <a:ext uri="{9D8B030D-6E8A-4147-A177-3AD203B41FA5}">
                      <a16:colId xmlns:a16="http://schemas.microsoft.com/office/drawing/2014/main" val="1441776945"/>
                    </a:ext>
                  </a:extLst>
                </a:gridCol>
                <a:gridCol w="618490">
                  <a:extLst>
                    <a:ext uri="{9D8B030D-6E8A-4147-A177-3AD203B41FA5}">
                      <a16:colId xmlns:a16="http://schemas.microsoft.com/office/drawing/2014/main" val="2769097364"/>
                    </a:ext>
                  </a:extLst>
                </a:gridCol>
              </a:tblGrid>
              <a:tr h="49711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00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0720605"/>
                  </a:ext>
                </a:extLst>
              </a:tr>
              <a:tr h="49711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31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8497103"/>
                  </a:ext>
                </a:extLst>
              </a:tr>
              <a:tr h="49711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32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732362"/>
                  </a:ext>
                </a:extLst>
              </a:tr>
              <a:tr h="49711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33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6208419"/>
                  </a:ext>
                </a:extLst>
              </a:tr>
            </a:tbl>
          </a:graphicData>
        </a:graphic>
      </p:graphicFrame>
      <p:sp>
        <p:nvSpPr>
          <p:cNvPr id="29" name="矩形 28">
            <a:extLst>
              <a:ext uri="{FF2B5EF4-FFF2-40B4-BE49-F238E27FC236}">
                <a16:creationId xmlns:a16="http://schemas.microsoft.com/office/drawing/2014/main" id="{1BDBCA80-B860-40F3-9C48-C7B6F71E841C}"/>
              </a:ext>
            </a:extLst>
          </p:cNvPr>
          <p:cNvSpPr/>
          <p:nvPr/>
        </p:nvSpPr>
        <p:spPr>
          <a:xfrm rot="5400000">
            <a:off x="819150" y="5086352"/>
            <a:ext cx="1828797" cy="1089659"/>
          </a:xfrm>
          <a:prstGeom prst="rect">
            <a:avLst/>
          </a:prstGeom>
          <a:noFill/>
          <a:ln w="222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43B005D-D561-4E9A-BF39-20CD88E835D8}"/>
              </a:ext>
            </a:extLst>
          </p:cNvPr>
          <p:cNvSpPr/>
          <p:nvPr/>
        </p:nvSpPr>
        <p:spPr>
          <a:xfrm rot="5400000">
            <a:off x="2293588" y="5067334"/>
            <a:ext cx="1828798" cy="1127695"/>
          </a:xfrm>
          <a:prstGeom prst="rect">
            <a:avLst/>
          </a:prstGeom>
          <a:noFill/>
          <a:ln w="22225"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6E4BD37F-72CE-4192-AF2D-810D371FE815}"/>
              </a:ext>
            </a:extLst>
          </p:cNvPr>
          <p:cNvSpPr/>
          <p:nvPr/>
        </p:nvSpPr>
        <p:spPr>
          <a:xfrm>
            <a:off x="4150337" y="4716782"/>
            <a:ext cx="1103417" cy="1828798"/>
          </a:xfrm>
          <a:prstGeom prst="rect">
            <a:avLst/>
          </a:prstGeom>
          <a:noFill/>
          <a:ln w="22225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6547EBD-C9FF-426A-B558-BD63F9AC2751}"/>
              </a:ext>
            </a:extLst>
          </p:cNvPr>
          <p:cNvSpPr/>
          <p:nvPr/>
        </p:nvSpPr>
        <p:spPr>
          <a:xfrm rot="5400000">
            <a:off x="5223161" y="5068111"/>
            <a:ext cx="1851660" cy="1133762"/>
          </a:xfrm>
          <a:prstGeom prst="rect">
            <a:avLst/>
          </a:prstGeom>
          <a:noFill/>
          <a:ln w="22225"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44F79A39-CF67-487A-81A3-416F7F0646F1}"/>
              </a:ext>
            </a:extLst>
          </p:cNvPr>
          <p:cNvGrpSpPr/>
          <p:nvPr/>
        </p:nvGrpSpPr>
        <p:grpSpPr>
          <a:xfrm>
            <a:off x="1264920" y="4346995"/>
            <a:ext cx="880706" cy="285251"/>
            <a:chOff x="1264920" y="4346995"/>
            <a:chExt cx="880706" cy="285251"/>
          </a:xfrm>
        </p:grpSpPr>
        <p:sp>
          <p:nvSpPr>
            <p:cNvPr id="33" name="箭头: 右 32">
              <a:extLst>
                <a:ext uri="{FF2B5EF4-FFF2-40B4-BE49-F238E27FC236}">
                  <a16:creationId xmlns:a16="http://schemas.microsoft.com/office/drawing/2014/main" id="{1BDEF19D-C85B-48FD-B5B1-5FFBFD1C1FA8}"/>
                </a:ext>
              </a:extLst>
            </p:cNvPr>
            <p:cNvSpPr/>
            <p:nvPr/>
          </p:nvSpPr>
          <p:spPr>
            <a:xfrm>
              <a:off x="1264920" y="4346995"/>
              <a:ext cx="335280" cy="261280"/>
            </a:xfrm>
            <a:prstGeom prst="rightArrow">
              <a:avLst/>
            </a:prstGeom>
            <a:solidFill>
              <a:srgbClr val="333F5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箭头: 右 33">
              <a:extLst>
                <a:ext uri="{FF2B5EF4-FFF2-40B4-BE49-F238E27FC236}">
                  <a16:creationId xmlns:a16="http://schemas.microsoft.com/office/drawing/2014/main" id="{56FCC1C4-8849-4A6D-B5AB-26DA2ACCB435}"/>
                </a:ext>
              </a:extLst>
            </p:cNvPr>
            <p:cNvSpPr/>
            <p:nvPr/>
          </p:nvSpPr>
          <p:spPr>
            <a:xfrm rot="5400000">
              <a:off x="1884346" y="4370966"/>
              <a:ext cx="261280" cy="261280"/>
            </a:xfrm>
            <a:prstGeom prst="rightArrow">
              <a:avLst/>
            </a:prstGeom>
            <a:solidFill>
              <a:srgbClr val="44546A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89EA1983-D96F-4A00-8445-81FE7EDCFEAC}"/>
              </a:ext>
            </a:extLst>
          </p:cNvPr>
          <p:cNvGrpSpPr/>
          <p:nvPr/>
        </p:nvGrpSpPr>
        <p:grpSpPr>
          <a:xfrm>
            <a:off x="2767044" y="4330420"/>
            <a:ext cx="880706" cy="285251"/>
            <a:chOff x="1264920" y="4346995"/>
            <a:chExt cx="880706" cy="285251"/>
          </a:xfrm>
        </p:grpSpPr>
        <p:sp>
          <p:nvSpPr>
            <p:cNvPr id="37" name="箭头: 右 36">
              <a:extLst>
                <a:ext uri="{FF2B5EF4-FFF2-40B4-BE49-F238E27FC236}">
                  <a16:creationId xmlns:a16="http://schemas.microsoft.com/office/drawing/2014/main" id="{365338FF-F1A2-4F88-BDBF-F88E7B5F7D64}"/>
                </a:ext>
              </a:extLst>
            </p:cNvPr>
            <p:cNvSpPr/>
            <p:nvPr/>
          </p:nvSpPr>
          <p:spPr>
            <a:xfrm>
              <a:off x="1264920" y="4346995"/>
              <a:ext cx="335280" cy="261280"/>
            </a:xfrm>
            <a:prstGeom prst="rightArrow">
              <a:avLst/>
            </a:prstGeom>
            <a:solidFill>
              <a:srgbClr val="333F5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箭头: 右 37">
              <a:extLst>
                <a:ext uri="{FF2B5EF4-FFF2-40B4-BE49-F238E27FC236}">
                  <a16:creationId xmlns:a16="http://schemas.microsoft.com/office/drawing/2014/main" id="{4B1484C3-6601-494A-A366-B6A7A8A51045}"/>
                </a:ext>
              </a:extLst>
            </p:cNvPr>
            <p:cNvSpPr/>
            <p:nvPr/>
          </p:nvSpPr>
          <p:spPr>
            <a:xfrm rot="5400000">
              <a:off x="1884346" y="4370966"/>
              <a:ext cx="261280" cy="261280"/>
            </a:xfrm>
            <a:prstGeom prst="rightArrow">
              <a:avLst/>
            </a:prstGeom>
            <a:solidFill>
              <a:srgbClr val="44546A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1906F8FE-4750-44AD-920B-9F089CD724E7}"/>
              </a:ext>
            </a:extLst>
          </p:cNvPr>
          <p:cNvGrpSpPr/>
          <p:nvPr/>
        </p:nvGrpSpPr>
        <p:grpSpPr>
          <a:xfrm>
            <a:off x="4241108" y="4346994"/>
            <a:ext cx="880706" cy="285251"/>
            <a:chOff x="1264920" y="4346995"/>
            <a:chExt cx="880706" cy="285251"/>
          </a:xfrm>
        </p:grpSpPr>
        <p:sp>
          <p:nvSpPr>
            <p:cNvPr id="40" name="箭头: 右 39">
              <a:extLst>
                <a:ext uri="{FF2B5EF4-FFF2-40B4-BE49-F238E27FC236}">
                  <a16:creationId xmlns:a16="http://schemas.microsoft.com/office/drawing/2014/main" id="{7206BF5B-B1F3-4464-B34A-2646B49C910F}"/>
                </a:ext>
              </a:extLst>
            </p:cNvPr>
            <p:cNvSpPr/>
            <p:nvPr/>
          </p:nvSpPr>
          <p:spPr>
            <a:xfrm>
              <a:off x="1264920" y="4346995"/>
              <a:ext cx="335280" cy="261280"/>
            </a:xfrm>
            <a:prstGeom prst="rightArrow">
              <a:avLst/>
            </a:prstGeom>
            <a:solidFill>
              <a:srgbClr val="333F5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箭头: 右 40">
              <a:extLst>
                <a:ext uri="{FF2B5EF4-FFF2-40B4-BE49-F238E27FC236}">
                  <a16:creationId xmlns:a16="http://schemas.microsoft.com/office/drawing/2014/main" id="{9EB89E11-E947-428A-935D-92DFCBB93CDD}"/>
                </a:ext>
              </a:extLst>
            </p:cNvPr>
            <p:cNvSpPr/>
            <p:nvPr/>
          </p:nvSpPr>
          <p:spPr>
            <a:xfrm rot="5400000">
              <a:off x="1884346" y="4370966"/>
              <a:ext cx="261280" cy="261280"/>
            </a:xfrm>
            <a:prstGeom prst="rightArrow">
              <a:avLst/>
            </a:prstGeom>
            <a:solidFill>
              <a:srgbClr val="44546A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AB405D1E-BB9D-4C7E-A3F5-B87E06D900E3}"/>
              </a:ext>
            </a:extLst>
          </p:cNvPr>
          <p:cNvGrpSpPr/>
          <p:nvPr/>
        </p:nvGrpSpPr>
        <p:grpSpPr>
          <a:xfrm>
            <a:off x="5717196" y="4330420"/>
            <a:ext cx="880706" cy="285251"/>
            <a:chOff x="1264920" y="4346995"/>
            <a:chExt cx="880706" cy="285251"/>
          </a:xfrm>
        </p:grpSpPr>
        <p:sp>
          <p:nvSpPr>
            <p:cNvPr id="43" name="箭头: 右 42">
              <a:extLst>
                <a:ext uri="{FF2B5EF4-FFF2-40B4-BE49-F238E27FC236}">
                  <a16:creationId xmlns:a16="http://schemas.microsoft.com/office/drawing/2014/main" id="{A209ED9F-77FF-45E0-BBA4-FE82801987A0}"/>
                </a:ext>
              </a:extLst>
            </p:cNvPr>
            <p:cNvSpPr/>
            <p:nvPr/>
          </p:nvSpPr>
          <p:spPr>
            <a:xfrm>
              <a:off x="1264920" y="4346995"/>
              <a:ext cx="335280" cy="261280"/>
            </a:xfrm>
            <a:prstGeom prst="rightArrow">
              <a:avLst/>
            </a:prstGeom>
            <a:solidFill>
              <a:srgbClr val="333F5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箭头: 右 43">
              <a:extLst>
                <a:ext uri="{FF2B5EF4-FFF2-40B4-BE49-F238E27FC236}">
                  <a16:creationId xmlns:a16="http://schemas.microsoft.com/office/drawing/2014/main" id="{0436453F-5C21-483B-8A4D-14FC6490DCC1}"/>
                </a:ext>
              </a:extLst>
            </p:cNvPr>
            <p:cNvSpPr/>
            <p:nvPr/>
          </p:nvSpPr>
          <p:spPr>
            <a:xfrm rot="5400000">
              <a:off x="1884346" y="4370966"/>
              <a:ext cx="261280" cy="261280"/>
            </a:xfrm>
            <a:prstGeom prst="rightArrow">
              <a:avLst/>
            </a:prstGeom>
            <a:solidFill>
              <a:srgbClr val="44546A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46" name="图片 45">
            <a:extLst>
              <a:ext uri="{FF2B5EF4-FFF2-40B4-BE49-F238E27FC236}">
                <a16:creationId xmlns:a16="http://schemas.microsoft.com/office/drawing/2014/main" id="{727703DE-AE25-4FE8-809F-AC22121D16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5406" y="4670898"/>
            <a:ext cx="2735817" cy="1874682"/>
          </a:xfrm>
          <a:prstGeom prst="rect">
            <a:avLst/>
          </a:prstGeom>
        </p:spPr>
      </p:pic>
      <p:sp>
        <p:nvSpPr>
          <p:cNvPr id="47" name="文本框 46">
            <a:extLst>
              <a:ext uri="{FF2B5EF4-FFF2-40B4-BE49-F238E27FC236}">
                <a16:creationId xmlns:a16="http://schemas.microsoft.com/office/drawing/2014/main" id="{DD019B0E-545A-4756-BF3D-3405A42A884F}"/>
              </a:ext>
            </a:extLst>
          </p:cNvPr>
          <p:cNvSpPr txBox="1"/>
          <p:nvPr/>
        </p:nvSpPr>
        <p:spPr>
          <a:xfrm>
            <a:off x="1432560" y="2076109"/>
            <a:ext cx="90281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旋转</a:t>
            </a:r>
            <a:endParaRPr lang="en-US" altLang="zh-CN" sz="2800" b="1" dirty="0">
              <a:solidFill>
                <a:schemeClr val="bg1"/>
              </a:solidFill>
            </a:endParaRPr>
          </a:p>
          <a:p>
            <a:r>
              <a:rPr lang="zh-CN" altLang="en-US" sz="2800" b="1" dirty="0">
                <a:solidFill>
                  <a:schemeClr val="bg1"/>
                </a:solidFill>
              </a:rPr>
              <a:t>原理</a:t>
            </a:r>
          </a:p>
        </p:txBody>
      </p:sp>
    </p:spTree>
    <p:extLst>
      <p:ext uri="{BB962C8B-B14F-4D97-AF65-F5344CB8AC3E}">
        <p14:creationId xmlns:p14="http://schemas.microsoft.com/office/powerpoint/2010/main" val="23916553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8D0EA7E-73E8-43A6-BEC2-F1C6EDB411F3}"/>
              </a:ext>
            </a:extLst>
          </p:cNvPr>
          <p:cNvSpPr txBox="1"/>
          <p:nvPr/>
        </p:nvSpPr>
        <p:spPr>
          <a:xfrm>
            <a:off x="1326488" y="1907465"/>
            <a:ext cx="90281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</a:rPr>
              <a:t>转后</a:t>
            </a:r>
            <a:endParaRPr lang="en-US" altLang="zh-CN" sz="2800" b="1" dirty="0">
              <a:solidFill>
                <a:schemeClr val="bg1"/>
              </a:solidFill>
            </a:endParaRPr>
          </a:p>
          <a:p>
            <a:r>
              <a:rPr lang="zh-CN" altLang="en-US" sz="2800" b="1" dirty="0">
                <a:solidFill>
                  <a:schemeClr val="bg1"/>
                </a:solidFill>
              </a:rPr>
              <a:t>优化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054B37F1-267B-4AD1-9B53-17C9B40602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694772"/>
              </p:ext>
            </p:extLst>
          </p:nvPr>
        </p:nvGraphicFramePr>
        <p:xfrm>
          <a:off x="2761784" y="1405549"/>
          <a:ext cx="2632600" cy="25096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8150">
                  <a:extLst>
                    <a:ext uri="{9D8B030D-6E8A-4147-A177-3AD203B41FA5}">
                      <a16:colId xmlns:a16="http://schemas.microsoft.com/office/drawing/2014/main" val="3619173822"/>
                    </a:ext>
                  </a:extLst>
                </a:gridCol>
                <a:gridCol w="658150">
                  <a:extLst>
                    <a:ext uri="{9D8B030D-6E8A-4147-A177-3AD203B41FA5}">
                      <a16:colId xmlns:a16="http://schemas.microsoft.com/office/drawing/2014/main" val="3305880127"/>
                    </a:ext>
                  </a:extLst>
                </a:gridCol>
                <a:gridCol w="658150">
                  <a:extLst>
                    <a:ext uri="{9D8B030D-6E8A-4147-A177-3AD203B41FA5}">
                      <a16:colId xmlns:a16="http://schemas.microsoft.com/office/drawing/2014/main" val="436263597"/>
                    </a:ext>
                  </a:extLst>
                </a:gridCol>
                <a:gridCol w="658150">
                  <a:extLst>
                    <a:ext uri="{9D8B030D-6E8A-4147-A177-3AD203B41FA5}">
                      <a16:colId xmlns:a16="http://schemas.microsoft.com/office/drawing/2014/main" val="1412014204"/>
                    </a:ext>
                  </a:extLst>
                </a:gridCol>
              </a:tblGrid>
              <a:tr h="627418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00</a:t>
                      </a:r>
                      <a:endParaRPr lang="zh-CN" altLang="en-US" dirty="0"/>
                    </a:p>
                  </a:txBody>
                  <a:tcPr anchor="ctr"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01</a:t>
                      </a:r>
                      <a:endParaRPr lang="zh-CN" altLang="en-US" dirty="0"/>
                    </a:p>
                  </a:txBody>
                  <a:tcPr anchor="ctr"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02</a:t>
                      </a:r>
                      <a:endParaRPr lang="zh-CN" altLang="en-US" dirty="0"/>
                    </a:p>
                  </a:txBody>
                  <a:tcPr anchor="ctr"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03</a:t>
                      </a:r>
                      <a:endParaRPr lang="zh-CN" altLang="en-US" dirty="0"/>
                    </a:p>
                  </a:txBody>
                  <a:tcPr anchor="ctr"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9031102"/>
                  </a:ext>
                </a:extLst>
              </a:tr>
              <a:tr h="627418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 anchor="ctr"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11</a:t>
                      </a:r>
                      <a:endParaRPr lang="zh-CN" altLang="en-US" dirty="0"/>
                    </a:p>
                  </a:txBody>
                  <a:tcPr anchor="ctr"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12</a:t>
                      </a:r>
                      <a:endParaRPr lang="zh-CN" altLang="en-US" dirty="0"/>
                    </a:p>
                  </a:txBody>
                  <a:tcPr anchor="ctr"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13</a:t>
                      </a:r>
                      <a:endParaRPr lang="zh-CN" altLang="en-US" dirty="0"/>
                    </a:p>
                  </a:txBody>
                  <a:tcPr anchor="ctr"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2460095"/>
                  </a:ext>
                </a:extLst>
              </a:tr>
              <a:tr h="627418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20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21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22</a:t>
                      </a:r>
                      <a:endParaRPr lang="zh-CN" altLang="en-US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23</a:t>
                      </a:r>
                      <a:endParaRPr lang="zh-CN" altLang="en-US" dirty="0"/>
                    </a:p>
                  </a:txBody>
                  <a:tcPr anchor="ctr"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60702"/>
                  </a:ext>
                </a:extLst>
              </a:tr>
              <a:tr h="627418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30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31</a:t>
                      </a:r>
                      <a:endParaRPr lang="zh-CN" altLang="en-US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32</a:t>
                      </a:r>
                      <a:endParaRPr lang="zh-CN" altLang="en-US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33</a:t>
                      </a:r>
                      <a:endParaRPr lang="zh-CN" altLang="en-US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3134088"/>
                  </a:ext>
                </a:extLst>
              </a:tr>
            </a:tbl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2251FFD8-1EA2-4A9D-AE50-8AD88D3E6106}"/>
              </a:ext>
            </a:extLst>
          </p:cNvPr>
          <p:cNvSpPr txBox="1"/>
          <p:nvPr/>
        </p:nvSpPr>
        <p:spPr>
          <a:xfrm>
            <a:off x="3506910" y="2856496"/>
            <a:ext cx="6783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✔</a:t>
            </a:r>
          </a:p>
        </p:txBody>
      </p:sp>
      <p:sp>
        <p:nvSpPr>
          <p:cNvPr id="13" name="爆炸形: 8 pt  12">
            <a:extLst>
              <a:ext uri="{FF2B5EF4-FFF2-40B4-BE49-F238E27FC236}">
                <a16:creationId xmlns:a16="http://schemas.microsoft.com/office/drawing/2014/main" id="{CB737129-47AC-4A37-AE55-BF8119060C74}"/>
              </a:ext>
            </a:extLst>
          </p:cNvPr>
          <p:cNvSpPr/>
          <p:nvPr/>
        </p:nvSpPr>
        <p:spPr>
          <a:xfrm>
            <a:off x="2761784" y="1405549"/>
            <a:ext cx="2709376" cy="621371"/>
          </a:xfrm>
          <a:prstGeom prst="irregularSeal1">
            <a:avLst/>
          </a:prstGeom>
          <a:solidFill>
            <a:srgbClr val="FF0000">
              <a:alpha val="42000"/>
            </a:srgbClr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爆炸形: 8 pt  13">
            <a:extLst>
              <a:ext uri="{FF2B5EF4-FFF2-40B4-BE49-F238E27FC236}">
                <a16:creationId xmlns:a16="http://schemas.microsoft.com/office/drawing/2014/main" id="{26A59D69-F124-4F16-8B61-256331DE339E}"/>
              </a:ext>
            </a:extLst>
          </p:cNvPr>
          <p:cNvSpPr/>
          <p:nvPr/>
        </p:nvSpPr>
        <p:spPr>
          <a:xfrm>
            <a:off x="2761784" y="2039014"/>
            <a:ext cx="2709376" cy="621371"/>
          </a:xfrm>
          <a:prstGeom prst="irregularSeal1">
            <a:avLst/>
          </a:prstGeom>
          <a:solidFill>
            <a:srgbClr val="FF0000">
              <a:alpha val="42000"/>
            </a:srgbClr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爆炸形: 8 pt  14">
            <a:extLst>
              <a:ext uri="{FF2B5EF4-FFF2-40B4-BE49-F238E27FC236}">
                <a16:creationId xmlns:a16="http://schemas.microsoft.com/office/drawing/2014/main" id="{2283D535-54CA-4D0A-9777-9F1FBE67019A}"/>
              </a:ext>
            </a:extLst>
          </p:cNvPr>
          <p:cNvSpPr/>
          <p:nvPr/>
        </p:nvSpPr>
        <p:spPr>
          <a:xfrm rot="5400000">
            <a:off x="1845247" y="2449549"/>
            <a:ext cx="2509673" cy="621371"/>
          </a:xfrm>
          <a:prstGeom prst="irregularSeal1">
            <a:avLst/>
          </a:prstGeom>
          <a:solidFill>
            <a:srgbClr val="FFFF00">
              <a:alpha val="42000"/>
            </a:srgbClr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对话气泡: 圆角矩形 15">
            <a:extLst>
              <a:ext uri="{FF2B5EF4-FFF2-40B4-BE49-F238E27FC236}">
                <a16:creationId xmlns:a16="http://schemas.microsoft.com/office/drawing/2014/main" id="{D1C5ED84-5C51-4AA2-8D94-ADBC0B9FC736}"/>
              </a:ext>
            </a:extLst>
          </p:cNvPr>
          <p:cNvSpPr/>
          <p:nvPr/>
        </p:nvSpPr>
        <p:spPr>
          <a:xfrm>
            <a:off x="2427098" y="3863724"/>
            <a:ext cx="1345972" cy="838200"/>
          </a:xfrm>
          <a:prstGeom prst="wedgeRoundRectCallout">
            <a:avLst>
              <a:gd name="adj1" fmla="val 51708"/>
              <a:gd name="adj2" fmla="val -130227"/>
              <a:gd name="adj3" fmla="val 16667"/>
            </a:avLst>
          </a:prstGeom>
          <a:solidFill>
            <a:schemeClr val="accent1">
              <a:alpha val="5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r>
              <a:rPr lang="zh-CN" altLang="en-US" dirty="0"/>
              <a:t>行</a:t>
            </a:r>
            <a:r>
              <a:rPr lang="en-US" altLang="zh-CN" dirty="0"/>
              <a:t>1</a:t>
            </a:r>
            <a:r>
              <a:rPr lang="zh-CN" altLang="en-US" dirty="0"/>
              <a:t>列开始赋值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C4BA073-4ED9-479C-BD0A-F7347D248E73}"/>
              </a:ext>
            </a:extLst>
          </p:cNvPr>
          <p:cNvSpPr txBox="1"/>
          <p:nvPr/>
        </p:nvSpPr>
        <p:spPr>
          <a:xfrm>
            <a:off x="7176933" y="829629"/>
            <a:ext cx="14666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A</a:t>
            </a:r>
            <a:r>
              <a:rPr lang="zh-CN" altLang="en-US" sz="2400" b="1" dirty="0">
                <a:solidFill>
                  <a:schemeClr val="bg1"/>
                </a:solidFill>
              </a:rPr>
              <a:t>数组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4A84DD7-4FB2-4AD6-B473-E1F55ED3734E}"/>
              </a:ext>
            </a:extLst>
          </p:cNvPr>
          <p:cNvSpPr txBox="1"/>
          <p:nvPr/>
        </p:nvSpPr>
        <p:spPr>
          <a:xfrm>
            <a:off x="4329572" y="3888797"/>
            <a:ext cx="14666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B</a:t>
            </a:r>
            <a:r>
              <a:rPr lang="zh-CN" altLang="en-US" sz="2400" b="1" dirty="0">
                <a:solidFill>
                  <a:schemeClr val="bg1"/>
                </a:solidFill>
              </a:rPr>
              <a:t>数组</a:t>
            </a:r>
          </a:p>
        </p:txBody>
      </p:sp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3AA22D7A-6893-4D8E-A50B-D722E02AFD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1707733"/>
              </p:ext>
            </p:extLst>
          </p:nvPr>
        </p:nvGraphicFramePr>
        <p:xfrm>
          <a:off x="6761002" y="1394784"/>
          <a:ext cx="2632600" cy="25096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8150">
                  <a:extLst>
                    <a:ext uri="{9D8B030D-6E8A-4147-A177-3AD203B41FA5}">
                      <a16:colId xmlns:a16="http://schemas.microsoft.com/office/drawing/2014/main" val="3619173822"/>
                    </a:ext>
                  </a:extLst>
                </a:gridCol>
                <a:gridCol w="658150">
                  <a:extLst>
                    <a:ext uri="{9D8B030D-6E8A-4147-A177-3AD203B41FA5}">
                      <a16:colId xmlns:a16="http://schemas.microsoft.com/office/drawing/2014/main" val="3305880127"/>
                    </a:ext>
                  </a:extLst>
                </a:gridCol>
                <a:gridCol w="658150">
                  <a:extLst>
                    <a:ext uri="{9D8B030D-6E8A-4147-A177-3AD203B41FA5}">
                      <a16:colId xmlns:a16="http://schemas.microsoft.com/office/drawing/2014/main" val="436263597"/>
                    </a:ext>
                  </a:extLst>
                </a:gridCol>
                <a:gridCol w="658150">
                  <a:extLst>
                    <a:ext uri="{9D8B030D-6E8A-4147-A177-3AD203B41FA5}">
                      <a16:colId xmlns:a16="http://schemas.microsoft.com/office/drawing/2014/main" val="1412014204"/>
                    </a:ext>
                  </a:extLst>
                </a:gridCol>
              </a:tblGrid>
              <a:tr h="627418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00</a:t>
                      </a:r>
                      <a:endParaRPr lang="zh-CN" altLang="en-US" dirty="0"/>
                    </a:p>
                  </a:txBody>
                  <a:tcPr anchor="ctr"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01</a:t>
                      </a:r>
                      <a:endParaRPr lang="zh-CN" altLang="en-US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02</a:t>
                      </a:r>
                      <a:endParaRPr lang="zh-CN" altLang="en-US" dirty="0"/>
                    </a:p>
                  </a:txBody>
                  <a:tcPr anchor="ctr"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03</a:t>
                      </a:r>
                      <a:endParaRPr lang="zh-CN" altLang="en-US" dirty="0"/>
                    </a:p>
                  </a:txBody>
                  <a:tcPr anchor="ctr"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9031102"/>
                  </a:ext>
                </a:extLst>
              </a:tr>
              <a:tr h="627418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11</a:t>
                      </a:r>
                      <a:endParaRPr lang="zh-CN" altLang="en-US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12</a:t>
                      </a:r>
                      <a:endParaRPr lang="zh-CN" altLang="en-US" dirty="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13</a:t>
                      </a:r>
                      <a:endParaRPr lang="zh-CN" altLang="en-US" dirty="0"/>
                    </a:p>
                  </a:txBody>
                  <a:tcPr anchor="ctr"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2460095"/>
                  </a:ext>
                </a:extLst>
              </a:tr>
              <a:tr h="627418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20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21</a:t>
                      </a:r>
                      <a:endParaRPr lang="zh-CN" altLang="en-US" dirty="0"/>
                    </a:p>
                  </a:txBody>
                  <a:tcPr anchor="ctr"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22</a:t>
                      </a:r>
                      <a:endParaRPr lang="zh-CN" altLang="en-US" dirty="0"/>
                    </a:p>
                  </a:txBody>
                  <a:tcPr anchor="ctr"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23</a:t>
                      </a:r>
                      <a:endParaRPr lang="zh-CN" altLang="en-US" dirty="0"/>
                    </a:p>
                  </a:txBody>
                  <a:tcPr anchor="ctr"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060702"/>
                  </a:ext>
                </a:extLst>
              </a:tr>
              <a:tr h="627418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30</a:t>
                      </a:r>
                      <a:endParaRPr lang="zh-CN" altLang="en-US" dirty="0"/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31</a:t>
                      </a:r>
                      <a:endParaRPr lang="zh-CN" altLang="en-US" dirty="0"/>
                    </a:p>
                  </a:txBody>
                  <a:tcPr anchor="ctr"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32</a:t>
                      </a:r>
                      <a:endParaRPr lang="zh-CN" altLang="en-US" dirty="0"/>
                    </a:p>
                  </a:txBody>
                  <a:tcPr anchor="ctr"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33</a:t>
                      </a:r>
                      <a:endParaRPr lang="zh-CN" altLang="en-US" dirty="0"/>
                    </a:p>
                  </a:txBody>
                  <a:tcPr anchor="ctr"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3134088"/>
                  </a:ext>
                </a:extLst>
              </a:tr>
            </a:tbl>
          </a:graphicData>
        </a:graphic>
      </p:graphicFrame>
      <p:sp>
        <p:nvSpPr>
          <p:cNvPr id="22" name="矩形 21">
            <a:extLst>
              <a:ext uri="{FF2B5EF4-FFF2-40B4-BE49-F238E27FC236}">
                <a16:creationId xmlns:a16="http://schemas.microsoft.com/office/drawing/2014/main" id="{FB65ED4D-249F-47F8-A6A4-E62F744FBAA3}"/>
              </a:ext>
            </a:extLst>
          </p:cNvPr>
          <p:cNvSpPr/>
          <p:nvPr/>
        </p:nvSpPr>
        <p:spPr>
          <a:xfrm rot="5400000">
            <a:off x="3802177" y="2296590"/>
            <a:ext cx="1228412" cy="1956001"/>
          </a:xfrm>
          <a:prstGeom prst="rect">
            <a:avLst/>
          </a:prstGeom>
          <a:solidFill>
            <a:srgbClr val="00B0F0">
              <a:alpha val="53000"/>
            </a:srgbClr>
          </a:solidFill>
          <a:ln w="222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F797241-7ED6-4E3B-B169-C7A83836B1E5}"/>
              </a:ext>
            </a:extLst>
          </p:cNvPr>
          <p:cNvSpPr/>
          <p:nvPr/>
        </p:nvSpPr>
        <p:spPr>
          <a:xfrm rot="5400000">
            <a:off x="7124796" y="1048920"/>
            <a:ext cx="1228412" cy="1956001"/>
          </a:xfrm>
          <a:prstGeom prst="rect">
            <a:avLst/>
          </a:prstGeom>
          <a:solidFill>
            <a:srgbClr val="00B0F0">
              <a:alpha val="53000"/>
            </a:srgbClr>
          </a:solidFill>
          <a:ln w="222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箭头: 右 18">
            <a:extLst>
              <a:ext uri="{FF2B5EF4-FFF2-40B4-BE49-F238E27FC236}">
                <a16:creationId xmlns:a16="http://schemas.microsoft.com/office/drawing/2014/main" id="{8624EA9A-F76A-4E0B-B1FF-EC3F1F6809F6}"/>
              </a:ext>
            </a:extLst>
          </p:cNvPr>
          <p:cNvSpPr/>
          <p:nvPr/>
        </p:nvSpPr>
        <p:spPr>
          <a:xfrm rot="20171771">
            <a:off x="5316703" y="2446979"/>
            <a:ext cx="1535398" cy="488147"/>
          </a:xfrm>
          <a:prstGeom prst="rightArrow">
            <a:avLst/>
          </a:prstGeom>
          <a:solidFill>
            <a:schemeClr val="accent1">
              <a:alpha val="2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赋值</a:t>
            </a: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C20B3354-EDCE-4673-8A71-6F87D5FCF69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68" r="7461"/>
          <a:stretch/>
        </p:blipFill>
        <p:spPr>
          <a:xfrm>
            <a:off x="1158700" y="4869521"/>
            <a:ext cx="2703646" cy="1165860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DDE31A5E-043C-44EA-8E92-5488E92D8903}"/>
              </a:ext>
            </a:extLst>
          </p:cNvPr>
          <p:cNvSpPr txBox="1"/>
          <p:nvPr/>
        </p:nvSpPr>
        <p:spPr>
          <a:xfrm>
            <a:off x="1610277" y="6153305"/>
            <a:ext cx="1851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</a:rPr>
              <a:t>寻找开始有方块的</a:t>
            </a:r>
            <a:r>
              <a:rPr lang="zh-CN" altLang="en-US" b="1" dirty="0">
                <a:solidFill>
                  <a:srgbClr val="FF0000"/>
                </a:solidFill>
              </a:rPr>
              <a:t>行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35E9BB9-6D2C-4154-8436-E71223521734}"/>
              </a:ext>
            </a:extLst>
          </p:cNvPr>
          <p:cNvSpPr txBox="1"/>
          <p:nvPr/>
        </p:nvSpPr>
        <p:spPr>
          <a:xfrm>
            <a:off x="4734520" y="6129767"/>
            <a:ext cx="1851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</a:rPr>
              <a:t>寻找开始有方块的</a:t>
            </a:r>
            <a:r>
              <a:rPr lang="zh-CN" altLang="en-US" b="1" dirty="0">
                <a:solidFill>
                  <a:srgbClr val="FFC000"/>
                </a:solidFill>
              </a:rPr>
              <a:t>列</a:t>
            </a:r>
            <a:endParaRPr lang="zh-CN" altLang="en-US" sz="1400" b="1" dirty="0">
              <a:solidFill>
                <a:srgbClr val="FFC000"/>
              </a:solidFill>
            </a:endParaRP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5BB87842-A090-4B80-BDCE-62E1C647AD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1392" y="4861630"/>
            <a:ext cx="2840339" cy="1167312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CE342362-AC9D-419B-BDB4-7E3698D987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1107" y="4851310"/>
            <a:ext cx="2541677" cy="1177061"/>
          </a:xfrm>
          <a:prstGeom prst="rect">
            <a:avLst/>
          </a:prstGeom>
        </p:spPr>
      </p:pic>
      <p:sp>
        <p:nvSpPr>
          <p:cNvPr id="32" name="文本框 31">
            <a:extLst>
              <a:ext uri="{FF2B5EF4-FFF2-40B4-BE49-F238E27FC236}">
                <a16:creationId xmlns:a16="http://schemas.microsoft.com/office/drawing/2014/main" id="{38A729EF-402B-40F2-9CC4-D340CD8BF438}"/>
              </a:ext>
            </a:extLst>
          </p:cNvPr>
          <p:cNvSpPr txBox="1"/>
          <p:nvPr/>
        </p:nvSpPr>
        <p:spPr>
          <a:xfrm>
            <a:off x="7389996" y="6184082"/>
            <a:ext cx="27638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</a:rPr>
              <a:t>从优化位置从</a:t>
            </a:r>
            <a:r>
              <a:rPr lang="en-US" altLang="zh-CN" sz="1400" dirty="0">
                <a:solidFill>
                  <a:schemeClr val="bg1"/>
                </a:solidFill>
              </a:rPr>
              <a:t>b</a:t>
            </a:r>
            <a:r>
              <a:rPr lang="zh-CN" altLang="en-US" sz="1400" dirty="0">
                <a:solidFill>
                  <a:schemeClr val="bg1"/>
                </a:solidFill>
              </a:rPr>
              <a:t>数组向</a:t>
            </a:r>
            <a:r>
              <a:rPr lang="en-US" altLang="zh-CN" sz="1400" dirty="0">
                <a:solidFill>
                  <a:schemeClr val="bg1"/>
                </a:solidFill>
              </a:rPr>
              <a:t>a</a:t>
            </a:r>
            <a:r>
              <a:rPr lang="zh-CN" altLang="en-US" sz="1400" dirty="0">
                <a:solidFill>
                  <a:schemeClr val="bg1"/>
                </a:solidFill>
              </a:rPr>
              <a:t>数组赋值</a:t>
            </a:r>
            <a:endParaRPr lang="zh-CN" altLang="en-US" sz="14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46531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E849B83-9044-4F26-AB79-BD9FFB7B50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7182" y="977557"/>
            <a:ext cx="2751857" cy="5467600"/>
          </a:xfrm>
          <a:prstGeom prst="rect">
            <a:avLst/>
          </a:prstGeom>
        </p:spPr>
      </p:pic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F7CD2764-7B64-4936-94AB-50930A29E0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9993258"/>
              </p:ext>
            </p:extLst>
          </p:nvPr>
        </p:nvGraphicFramePr>
        <p:xfrm>
          <a:off x="3208398" y="2906263"/>
          <a:ext cx="1097280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255256785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6901600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771034306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314022983"/>
                    </a:ext>
                  </a:extLst>
                </a:gridCol>
              </a:tblGrid>
              <a:tr h="262679">
                <a:tc>
                  <a:txBody>
                    <a:bodyPr/>
                    <a:lstStyle/>
                    <a:p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7768232"/>
                  </a:ext>
                </a:extLst>
              </a:tr>
              <a:tr h="262679">
                <a:tc>
                  <a:txBody>
                    <a:bodyPr/>
                    <a:lstStyle/>
                    <a:p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025263"/>
                  </a:ext>
                </a:extLst>
              </a:tr>
              <a:tr h="262679">
                <a:tc>
                  <a:txBody>
                    <a:bodyPr/>
                    <a:lstStyle/>
                    <a:p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04529"/>
                  </a:ext>
                </a:extLst>
              </a:tr>
              <a:tr h="262679">
                <a:tc>
                  <a:txBody>
                    <a:bodyPr/>
                    <a:lstStyle/>
                    <a:p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2610532"/>
                  </a:ext>
                </a:extLst>
              </a:tr>
            </a:tbl>
          </a:graphicData>
        </a:graphic>
      </p:graphicFrame>
      <p:sp>
        <p:nvSpPr>
          <p:cNvPr id="5" name="流程图: 接点 4">
            <a:extLst>
              <a:ext uri="{FF2B5EF4-FFF2-40B4-BE49-F238E27FC236}">
                <a16:creationId xmlns:a16="http://schemas.microsoft.com/office/drawing/2014/main" id="{860D9EC3-EC28-4D89-A28E-66DE9DAFF240}"/>
              </a:ext>
            </a:extLst>
          </p:cNvPr>
          <p:cNvSpPr/>
          <p:nvPr/>
        </p:nvSpPr>
        <p:spPr>
          <a:xfrm>
            <a:off x="3155058" y="2836837"/>
            <a:ext cx="167640" cy="179916"/>
          </a:xfrm>
          <a:prstGeom prst="flowChartConnector">
            <a:avLst/>
          </a:prstGeom>
          <a:solidFill>
            <a:srgbClr val="FF0000">
              <a:alpha val="66000"/>
            </a:srgbClr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对话气泡: 圆角矩形 5">
            <a:extLst>
              <a:ext uri="{FF2B5EF4-FFF2-40B4-BE49-F238E27FC236}">
                <a16:creationId xmlns:a16="http://schemas.microsoft.com/office/drawing/2014/main" id="{89F241CC-7BDC-4E8C-B9EA-738FA03DE191}"/>
              </a:ext>
            </a:extLst>
          </p:cNvPr>
          <p:cNvSpPr/>
          <p:nvPr/>
        </p:nvSpPr>
        <p:spPr>
          <a:xfrm>
            <a:off x="3718938" y="2176861"/>
            <a:ext cx="1173480" cy="659976"/>
          </a:xfrm>
          <a:prstGeom prst="wedgeRoundRectCallout">
            <a:avLst>
              <a:gd name="adj1" fmla="val -83171"/>
              <a:gd name="adj2" fmla="val 53263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记录旋转点的位置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A7AE4D8-3532-4B43-91B0-935695B04D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6045" y="1032471"/>
            <a:ext cx="2872989" cy="891617"/>
          </a:xfrm>
          <a:prstGeom prst="rect">
            <a:avLst/>
          </a:prstGeom>
        </p:spPr>
      </p:pic>
      <p:sp>
        <p:nvSpPr>
          <p:cNvPr id="10" name="流程图: 接点 9">
            <a:extLst>
              <a:ext uri="{FF2B5EF4-FFF2-40B4-BE49-F238E27FC236}">
                <a16:creationId xmlns:a16="http://schemas.microsoft.com/office/drawing/2014/main" id="{63932C0F-17E8-4F46-A5DD-E4E77B7F6F4E}"/>
              </a:ext>
            </a:extLst>
          </p:cNvPr>
          <p:cNvSpPr/>
          <p:nvPr/>
        </p:nvSpPr>
        <p:spPr>
          <a:xfrm>
            <a:off x="8260080" y="1032471"/>
            <a:ext cx="167640" cy="179916"/>
          </a:xfrm>
          <a:prstGeom prst="flowChartConnector">
            <a:avLst/>
          </a:prstGeom>
          <a:solidFill>
            <a:srgbClr val="FF0000">
              <a:alpha val="66000"/>
            </a:srgbClr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对话气泡: 圆角矩形 10">
            <a:extLst>
              <a:ext uri="{FF2B5EF4-FFF2-40B4-BE49-F238E27FC236}">
                <a16:creationId xmlns:a16="http://schemas.microsoft.com/office/drawing/2014/main" id="{B5EE11EA-9B0C-4CE1-A5F4-7A54777E391A}"/>
              </a:ext>
            </a:extLst>
          </p:cNvPr>
          <p:cNvSpPr/>
          <p:nvPr/>
        </p:nvSpPr>
        <p:spPr>
          <a:xfrm>
            <a:off x="6196096" y="784860"/>
            <a:ext cx="1276226" cy="757515"/>
          </a:xfrm>
          <a:prstGeom prst="wedgeRoundRectCallout">
            <a:avLst>
              <a:gd name="adj1" fmla="val 114881"/>
              <a:gd name="adj2" fmla="val -7930"/>
              <a:gd name="adj3" fmla="val 16667"/>
            </a:avLst>
          </a:prstGeom>
          <a:solidFill>
            <a:schemeClr val="accent1"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记录旋转点的开始位置</a:t>
            </a:r>
            <a:endParaRPr lang="en-US" altLang="zh-CN" sz="1400" dirty="0"/>
          </a:p>
          <a:p>
            <a:pPr algn="ctr"/>
            <a:r>
              <a:rPr lang="en-US" altLang="zh-CN" sz="1400" dirty="0"/>
              <a:t>0</a:t>
            </a:r>
            <a:r>
              <a:rPr lang="zh-CN" altLang="en-US" sz="1400" dirty="0"/>
              <a:t>行</a:t>
            </a:r>
            <a:r>
              <a:rPr lang="en-US" altLang="zh-CN" sz="1400" dirty="0"/>
              <a:t>3</a:t>
            </a:r>
            <a:r>
              <a:rPr lang="zh-CN" altLang="en-US" sz="1400" dirty="0"/>
              <a:t>列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71144C39-6D4A-45E9-A0E6-47E146DF16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6640" y="2025953"/>
            <a:ext cx="2296518" cy="4419204"/>
          </a:xfrm>
          <a:prstGeom prst="rect">
            <a:avLst/>
          </a:prstGeom>
        </p:spPr>
      </p:pic>
      <p:graphicFrame>
        <p:nvGraphicFramePr>
          <p:cNvPr id="14" name="表格 4">
            <a:extLst>
              <a:ext uri="{FF2B5EF4-FFF2-40B4-BE49-F238E27FC236}">
                <a16:creationId xmlns:a16="http://schemas.microsoft.com/office/drawing/2014/main" id="{9201A1A4-EB27-4F39-A049-A2BF9BC03C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9780983"/>
              </p:ext>
            </p:extLst>
          </p:nvPr>
        </p:nvGraphicFramePr>
        <p:xfrm>
          <a:off x="8768758" y="5584097"/>
          <a:ext cx="914400" cy="8610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8600">
                  <a:extLst>
                    <a:ext uri="{9D8B030D-6E8A-4147-A177-3AD203B41FA5}">
                      <a16:colId xmlns:a16="http://schemas.microsoft.com/office/drawing/2014/main" val="2552567859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169016001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3771034306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3314022983"/>
                    </a:ext>
                  </a:extLst>
                </a:gridCol>
              </a:tblGrid>
              <a:tr h="215265">
                <a:tc>
                  <a:txBody>
                    <a:bodyPr/>
                    <a:lstStyle/>
                    <a:p>
                      <a:endParaRPr lang="zh-CN" altLang="en-US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7768232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endParaRPr lang="zh-CN" altLang="en-US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025263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endParaRPr lang="zh-CN" altLang="en-US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04529"/>
                  </a:ext>
                </a:extLst>
              </a:tr>
              <a:tr h="215265">
                <a:tc>
                  <a:txBody>
                    <a:bodyPr/>
                    <a:lstStyle/>
                    <a:p>
                      <a:endParaRPr lang="zh-CN" altLang="en-US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2610532"/>
                  </a:ext>
                </a:extLst>
              </a:tr>
            </a:tbl>
          </a:graphicData>
        </a:graphic>
      </p:graphicFrame>
      <p:sp>
        <p:nvSpPr>
          <p:cNvPr id="15" name="流程图: 接点 14">
            <a:extLst>
              <a:ext uri="{FF2B5EF4-FFF2-40B4-BE49-F238E27FC236}">
                <a16:creationId xmlns:a16="http://schemas.microsoft.com/office/drawing/2014/main" id="{864CF22C-08C3-4AE8-9A52-BFC7B12469F1}"/>
              </a:ext>
            </a:extLst>
          </p:cNvPr>
          <p:cNvSpPr/>
          <p:nvPr/>
        </p:nvSpPr>
        <p:spPr>
          <a:xfrm>
            <a:off x="8684938" y="5482232"/>
            <a:ext cx="167640" cy="179916"/>
          </a:xfrm>
          <a:prstGeom prst="flowChartConnector">
            <a:avLst/>
          </a:prstGeom>
          <a:solidFill>
            <a:srgbClr val="FF0000">
              <a:alpha val="66000"/>
            </a:srgbClr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对话气泡: 圆角矩形 15">
            <a:extLst>
              <a:ext uri="{FF2B5EF4-FFF2-40B4-BE49-F238E27FC236}">
                <a16:creationId xmlns:a16="http://schemas.microsoft.com/office/drawing/2014/main" id="{BC3CF83B-5B99-455A-ACE1-8444BC79D434}"/>
              </a:ext>
            </a:extLst>
          </p:cNvPr>
          <p:cNvSpPr/>
          <p:nvPr/>
        </p:nvSpPr>
        <p:spPr>
          <a:xfrm>
            <a:off x="6623746" y="5694382"/>
            <a:ext cx="1276226" cy="757515"/>
          </a:xfrm>
          <a:prstGeom prst="wedgeRoundRectCallout">
            <a:avLst>
              <a:gd name="adj1" fmla="val 119060"/>
              <a:gd name="adj2" fmla="val -63256"/>
              <a:gd name="adj3" fmla="val 16667"/>
            </a:avLst>
          </a:prstGeom>
          <a:solidFill>
            <a:schemeClr val="accent1"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记录旋转点的最后位置</a:t>
            </a:r>
            <a:endParaRPr lang="en-US" altLang="zh-CN" sz="1400" dirty="0"/>
          </a:p>
          <a:p>
            <a:pPr algn="ctr"/>
            <a:r>
              <a:rPr lang="en-US" altLang="zh-CN" sz="1400" dirty="0"/>
              <a:t>16</a:t>
            </a:r>
            <a:r>
              <a:rPr lang="zh-CN" altLang="en-US" sz="1400" dirty="0"/>
              <a:t>行</a:t>
            </a:r>
            <a:r>
              <a:rPr lang="en-US" altLang="zh-CN" sz="1400" dirty="0"/>
              <a:t>6</a:t>
            </a:r>
            <a:r>
              <a:rPr lang="zh-CN" altLang="en-US" sz="1400" dirty="0"/>
              <a:t>列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DCE06F3-3013-4D21-BF9B-26805EF8E099}"/>
              </a:ext>
            </a:extLst>
          </p:cNvPr>
          <p:cNvSpPr txBox="1"/>
          <p:nvPr/>
        </p:nvSpPr>
        <p:spPr>
          <a:xfrm>
            <a:off x="582193" y="2876710"/>
            <a:ext cx="159994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</a:rPr>
              <a:t>记录</a:t>
            </a:r>
            <a:endParaRPr lang="en-US" altLang="zh-CN" sz="3200" b="1" dirty="0">
              <a:solidFill>
                <a:schemeClr val="bg1"/>
              </a:solidFill>
            </a:endParaRPr>
          </a:p>
          <a:p>
            <a:pPr algn="ctr"/>
            <a:r>
              <a:rPr lang="zh-CN" altLang="en-US" sz="3200" b="1" dirty="0">
                <a:solidFill>
                  <a:schemeClr val="bg1"/>
                </a:solidFill>
              </a:rPr>
              <a:t>旋转点</a:t>
            </a:r>
          </a:p>
        </p:txBody>
      </p:sp>
      <p:sp>
        <p:nvSpPr>
          <p:cNvPr id="20" name="箭头: 右 19">
            <a:extLst>
              <a:ext uri="{FF2B5EF4-FFF2-40B4-BE49-F238E27FC236}">
                <a16:creationId xmlns:a16="http://schemas.microsoft.com/office/drawing/2014/main" id="{1ED7DBCF-AA72-4A72-8705-EE5B580508C8}"/>
              </a:ext>
            </a:extLst>
          </p:cNvPr>
          <p:cNvSpPr/>
          <p:nvPr/>
        </p:nvSpPr>
        <p:spPr>
          <a:xfrm>
            <a:off x="9271836" y="4885240"/>
            <a:ext cx="587239" cy="4343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箭头: 右 20">
            <a:extLst>
              <a:ext uri="{FF2B5EF4-FFF2-40B4-BE49-F238E27FC236}">
                <a16:creationId xmlns:a16="http://schemas.microsoft.com/office/drawing/2014/main" id="{5BAF38EB-8E97-44BF-879E-B43E182B3B15}"/>
              </a:ext>
            </a:extLst>
          </p:cNvPr>
          <p:cNvSpPr/>
          <p:nvPr/>
        </p:nvSpPr>
        <p:spPr>
          <a:xfrm rot="5400000">
            <a:off x="8299577" y="4654652"/>
            <a:ext cx="838200" cy="4343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箭头: 右 21">
            <a:extLst>
              <a:ext uri="{FF2B5EF4-FFF2-40B4-BE49-F238E27FC236}">
                <a16:creationId xmlns:a16="http://schemas.microsoft.com/office/drawing/2014/main" id="{A28E3693-49E2-4FC2-A55B-2199370AD357}"/>
              </a:ext>
            </a:extLst>
          </p:cNvPr>
          <p:cNvSpPr/>
          <p:nvPr/>
        </p:nvSpPr>
        <p:spPr>
          <a:xfrm rot="10800000">
            <a:off x="7603792" y="4856000"/>
            <a:ext cx="647287" cy="4343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3" name="对话气泡: 圆角矩形 22">
            <a:extLst>
              <a:ext uri="{FF2B5EF4-FFF2-40B4-BE49-F238E27FC236}">
                <a16:creationId xmlns:a16="http://schemas.microsoft.com/office/drawing/2014/main" id="{A4186D0E-EEAD-40DB-ACFA-D0052F3AB5DE}"/>
              </a:ext>
            </a:extLst>
          </p:cNvPr>
          <p:cNvSpPr/>
          <p:nvPr/>
        </p:nvSpPr>
        <p:spPr>
          <a:xfrm>
            <a:off x="10018006" y="3734663"/>
            <a:ext cx="1564394" cy="757515"/>
          </a:xfrm>
          <a:prstGeom prst="wedgeRoundRectCallout">
            <a:avLst>
              <a:gd name="adj1" fmla="val -121816"/>
              <a:gd name="adj2" fmla="val 119151"/>
              <a:gd name="adj3" fmla="val 16667"/>
            </a:avLst>
          </a:prstGeom>
          <a:solidFill>
            <a:schemeClr val="accent1"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下左右移动时也要更新旋转点</a:t>
            </a: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0F7E8CCC-33B6-493A-94DE-D5E74BCA09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5904" y="3937763"/>
            <a:ext cx="1191778" cy="52689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DEC4F7E7-8FB3-4F94-819E-820D9F36DC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66814" y="474930"/>
            <a:ext cx="2049958" cy="449619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EBE73160-A1EA-4320-B2A5-16ECA6BB9E0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7292" y="4871822"/>
            <a:ext cx="891617" cy="44199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F69A3A3A-7A50-4820-B828-5B10D4B065D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92190" y="4796752"/>
            <a:ext cx="1072491" cy="49358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787859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B334A22D-B8A9-4A02-A1D1-C2886780FB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7182" y="977557"/>
            <a:ext cx="2751857" cy="5467600"/>
          </a:xfrm>
          <a:prstGeom prst="rect">
            <a:avLst/>
          </a:prstGeom>
        </p:spPr>
      </p:pic>
      <p:graphicFrame>
        <p:nvGraphicFramePr>
          <p:cNvPr id="3" name="表格 4">
            <a:extLst>
              <a:ext uri="{FF2B5EF4-FFF2-40B4-BE49-F238E27FC236}">
                <a16:creationId xmlns:a16="http://schemas.microsoft.com/office/drawing/2014/main" id="{733A78A0-48DD-46C5-87B3-E0D80C4BF5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0436343"/>
              </p:ext>
            </p:extLst>
          </p:nvPr>
        </p:nvGraphicFramePr>
        <p:xfrm>
          <a:off x="3208398" y="2906263"/>
          <a:ext cx="1097280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2552567859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6901600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771034306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314022983"/>
                    </a:ext>
                  </a:extLst>
                </a:gridCol>
              </a:tblGrid>
              <a:tr h="262679">
                <a:tc>
                  <a:txBody>
                    <a:bodyPr/>
                    <a:lstStyle/>
                    <a:p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7768232"/>
                  </a:ext>
                </a:extLst>
              </a:tr>
              <a:tr h="262679">
                <a:tc>
                  <a:txBody>
                    <a:bodyPr/>
                    <a:lstStyle/>
                    <a:p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025263"/>
                  </a:ext>
                </a:extLst>
              </a:tr>
              <a:tr h="262679">
                <a:tc>
                  <a:txBody>
                    <a:bodyPr/>
                    <a:lstStyle/>
                    <a:p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04529"/>
                  </a:ext>
                </a:extLst>
              </a:tr>
              <a:tr h="262679">
                <a:tc>
                  <a:txBody>
                    <a:bodyPr/>
                    <a:lstStyle/>
                    <a:p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2610532"/>
                  </a:ext>
                </a:extLst>
              </a:tr>
            </a:tbl>
          </a:graphicData>
        </a:graphic>
      </p:graphicFrame>
      <p:sp>
        <p:nvSpPr>
          <p:cNvPr id="4" name="流程图: 接点 3">
            <a:extLst>
              <a:ext uri="{FF2B5EF4-FFF2-40B4-BE49-F238E27FC236}">
                <a16:creationId xmlns:a16="http://schemas.microsoft.com/office/drawing/2014/main" id="{F5EB425B-1544-4971-BA2B-0166967081CB}"/>
              </a:ext>
            </a:extLst>
          </p:cNvPr>
          <p:cNvSpPr/>
          <p:nvPr/>
        </p:nvSpPr>
        <p:spPr>
          <a:xfrm>
            <a:off x="3155058" y="2836837"/>
            <a:ext cx="167640" cy="179916"/>
          </a:xfrm>
          <a:prstGeom prst="flowChartConnector">
            <a:avLst/>
          </a:prstGeom>
          <a:solidFill>
            <a:srgbClr val="FF0000">
              <a:alpha val="66000"/>
            </a:srgbClr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对话气泡: 圆角矩形 4">
            <a:extLst>
              <a:ext uri="{FF2B5EF4-FFF2-40B4-BE49-F238E27FC236}">
                <a16:creationId xmlns:a16="http://schemas.microsoft.com/office/drawing/2014/main" id="{45CE1AB0-D17B-4243-A71E-C846C56C9FB2}"/>
              </a:ext>
            </a:extLst>
          </p:cNvPr>
          <p:cNvSpPr/>
          <p:nvPr/>
        </p:nvSpPr>
        <p:spPr>
          <a:xfrm>
            <a:off x="4088338" y="1830814"/>
            <a:ext cx="2478662" cy="972740"/>
          </a:xfrm>
          <a:prstGeom prst="wedgeRoundRectCallout">
            <a:avLst>
              <a:gd name="adj1" fmla="val -83171"/>
              <a:gd name="adj2" fmla="val 53263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根据旋转点，获得</a:t>
            </a:r>
            <a:r>
              <a:rPr lang="en-US" altLang="zh-CN" dirty="0"/>
              <a:t>4×4</a:t>
            </a:r>
            <a:r>
              <a:rPr lang="zh-CN" altLang="en-US" dirty="0"/>
              <a:t>表格：即</a:t>
            </a:r>
            <a:r>
              <a:rPr lang="en-US" altLang="zh-CN" dirty="0"/>
              <a:t>a</a:t>
            </a:r>
            <a:r>
              <a:rPr lang="zh-CN" altLang="en-US" dirty="0"/>
              <a:t>数组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16FF0B4-D3E7-4238-BFDF-7E148383EC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1573" y="642277"/>
            <a:ext cx="3764606" cy="1821338"/>
          </a:xfrm>
          <a:prstGeom prst="rect">
            <a:avLst/>
          </a:prstGeom>
        </p:spPr>
      </p:pic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0" name="幻灯片缩放定位 9">
                <a:extLst>
                  <a:ext uri="{FF2B5EF4-FFF2-40B4-BE49-F238E27FC236}">
                    <a16:creationId xmlns:a16="http://schemas.microsoft.com/office/drawing/2014/main" id="{56830FE2-AE0D-4338-BD26-2F650C4A9E8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62341465"/>
                  </p:ext>
                </p:extLst>
              </p:nvPr>
            </p:nvGraphicFramePr>
            <p:xfrm>
              <a:off x="6711573" y="2546000"/>
              <a:ext cx="3737244" cy="2102200"/>
            </p:xfrm>
            <a:graphic>
              <a:graphicData uri="http://schemas.microsoft.com/office/powerpoint/2016/slidezoom">
                <pslz:sldZm>
                  <pslz:sldZmObj sldId="276" cId="2391655315">
                    <pslz:zmPr id="{AA315BCC-ED6D-4536-9B59-185AAF086FD7}" returnToParent="0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737244" cy="21022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0" name="幻灯片缩放定位 9">
                <a:hlinkClick r:id="rId5" action="ppaction://hlinksldjump"/>
                <a:extLst>
                  <a:ext uri="{FF2B5EF4-FFF2-40B4-BE49-F238E27FC236}">
                    <a16:creationId xmlns:a16="http://schemas.microsoft.com/office/drawing/2014/main" id="{56830FE2-AE0D-4338-BD26-2F650C4A9E8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711573" y="2546000"/>
                <a:ext cx="3737244" cy="21022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2" name="幻灯片缩放定位 11">
                <a:extLst>
                  <a:ext uri="{FF2B5EF4-FFF2-40B4-BE49-F238E27FC236}">
                    <a16:creationId xmlns:a16="http://schemas.microsoft.com/office/drawing/2014/main" id="{45F90174-A9A6-4158-972B-68BE6F3CBFB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4123978"/>
                  </p:ext>
                </p:extLst>
              </p:nvPr>
            </p:nvGraphicFramePr>
            <p:xfrm>
              <a:off x="6711573" y="4730585"/>
              <a:ext cx="3737244" cy="2102200"/>
            </p:xfrm>
            <a:graphic>
              <a:graphicData uri="http://schemas.microsoft.com/office/powerpoint/2016/slidezoom">
                <pslz:sldZm>
                  <pslz:sldZmObj sldId="277" cId="4294653138">
                    <pslz:zmPr id="{A36496D1-08D0-4DF3-AE51-B75BE3C3B4A7}" returnToParent="0" transitionDur="1000">
                      <p166:blipFill xmlns:p166="http://schemas.microsoft.com/office/powerpoint/2016/6/main">
                        <a:blip r:embed="rId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737244" cy="21022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2" name="幻灯片缩放定位 11">
                <a:hlinkClick r:id="rId8" action="ppaction://hlinksldjump"/>
                <a:extLst>
                  <a:ext uri="{FF2B5EF4-FFF2-40B4-BE49-F238E27FC236}">
                    <a16:creationId xmlns:a16="http://schemas.microsoft.com/office/drawing/2014/main" id="{45F90174-A9A6-4158-972B-68BE6F3CBFB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711573" y="4730585"/>
                <a:ext cx="3737244" cy="21022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13" name="对话气泡: 圆角矩形 12">
            <a:extLst>
              <a:ext uri="{FF2B5EF4-FFF2-40B4-BE49-F238E27FC236}">
                <a16:creationId xmlns:a16="http://schemas.microsoft.com/office/drawing/2014/main" id="{84109FCB-5534-4193-AE67-05F8ED7CBFA5}"/>
              </a:ext>
            </a:extLst>
          </p:cNvPr>
          <p:cNvSpPr/>
          <p:nvPr/>
        </p:nvSpPr>
        <p:spPr>
          <a:xfrm>
            <a:off x="4088338" y="1830814"/>
            <a:ext cx="2478662" cy="972740"/>
          </a:xfrm>
          <a:prstGeom prst="wedgeRoundRectCallout">
            <a:avLst>
              <a:gd name="adj1" fmla="val 70541"/>
              <a:gd name="adj2" fmla="val -5014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根据旋转点，获得</a:t>
            </a:r>
            <a:r>
              <a:rPr lang="en-US" altLang="zh-CN" dirty="0"/>
              <a:t>4×4</a:t>
            </a:r>
            <a:r>
              <a:rPr lang="zh-CN" altLang="en-US" dirty="0"/>
              <a:t>表格：即</a:t>
            </a:r>
            <a:r>
              <a:rPr lang="en-US" altLang="zh-CN" dirty="0"/>
              <a:t>a</a:t>
            </a:r>
            <a:r>
              <a:rPr lang="zh-CN" altLang="en-US" dirty="0"/>
              <a:t>数组</a:t>
            </a:r>
          </a:p>
        </p:txBody>
      </p:sp>
      <p:sp>
        <p:nvSpPr>
          <p:cNvPr id="14" name="对话气泡: 圆角矩形 13">
            <a:extLst>
              <a:ext uri="{FF2B5EF4-FFF2-40B4-BE49-F238E27FC236}">
                <a16:creationId xmlns:a16="http://schemas.microsoft.com/office/drawing/2014/main" id="{6D69FB4F-912D-4FF0-858F-17B2C6DDB095}"/>
              </a:ext>
            </a:extLst>
          </p:cNvPr>
          <p:cNvSpPr/>
          <p:nvPr/>
        </p:nvSpPr>
        <p:spPr>
          <a:xfrm>
            <a:off x="4027378" y="4054447"/>
            <a:ext cx="2478662" cy="972740"/>
          </a:xfrm>
          <a:prstGeom prst="wedgeRoundRectCallout">
            <a:avLst>
              <a:gd name="adj1" fmla="val 70541"/>
              <a:gd name="adj2" fmla="val -5014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对</a:t>
            </a:r>
            <a:r>
              <a:rPr lang="en-US" altLang="zh-CN" dirty="0"/>
              <a:t>a</a:t>
            </a:r>
            <a:r>
              <a:rPr lang="zh-CN" altLang="en-US" dirty="0"/>
              <a:t>数组进行旋转处理</a:t>
            </a:r>
            <a:endParaRPr lang="en-US" altLang="zh-CN" dirty="0"/>
          </a:p>
          <a:p>
            <a:pPr algn="ctr"/>
            <a:r>
              <a:rPr lang="zh-CN" altLang="en-US" dirty="0"/>
              <a:t>结果存入</a:t>
            </a:r>
            <a:r>
              <a:rPr lang="en-US" altLang="zh-CN" dirty="0"/>
              <a:t>b</a:t>
            </a:r>
            <a:r>
              <a:rPr lang="zh-CN" altLang="en-US" dirty="0"/>
              <a:t>数组</a:t>
            </a:r>
          </a:p>
        </p:txBody>
      </p:sp>
      <p:sp>
        <p:nvSpPr>
          <p:cNvPr id="15" name="对话气泡: 圆角矩形 14">
            <a:extLst>
              <a:ext uri="{FF2B5EF4-FFF2-40B4-BE49-F238E27FC236}">
                <a16:creationId xmlns:a16="http://schemas.microsoft.com/office/drawing/2014/main" id="{7780DB71-FE8A-42EB-9C34-EBB0F3A35316}"/>
              </a:ext>
            </a:extLst>
          </p:cNvPr>
          <p:cNvSpPr/>
          <p:nvPr/>
        </p:nvSpPr>
        <p:spPr>
          <a:xfrm>
            <a:off x="4027378" y="5394073"/>
            <a:ext cx="2478662" cy="972740"/>
          </a:xfrm>
          <a:prstGeom prst="wedgeRoundRectCallout">
            <a:avLst>
              <a:gd name="adj1" fmla="val 70541"/>
              <a:gd name="adj2" fmla="val -5014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对</a:t>
            </a:r>
            <a:r>
              <a:rPr lang="en-US" altLang="zh-CN" dirty="0"/>
              <a:t>b</a:t>
            </a:r>
            <a:r>
              <a:rPr lang="zh-CN" altLang="en-US" dirty="0"/>
              <a:t>数组进行优化处理</a:t>
            </a:r>
            <a:endParaRPr lang="en-US" altLang="zh-CN" dirty="0"/>
          </a:p>
          <a:p>
            <a:pPr algn="ctr"/>
            <a:r>
              <a:rPr lang="zh-CN" altLang="en-US" dirty="0"/>
              <a:t>结果存回</a:t>
            </a:r>
            <a:r>
              <a:rPr lang="en-US" altLang="zh-CN" dirty="0"/>
              <a:t>a</a:t>
            </a:r>
            <a:r>
              <a:rPr lang="zh-CN" altLang="en-US" dirty="0"/>
              <a:t>数组</a:t>
            </a:r>
          </a:p>
        </p:txBody>
      </p:sp>
    </p:spTree>
    <p:extLst>
      <p:ext uri="{BB962C8B-B14F-4D97-AF65-F5344CB8AC3E}">
        <p14:creationId xmlns:p14="http://schemas.microsoft.com/office/powerpoint/2010/main" val="31493409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C4F710A3-9368-423B-8A22-CE9F5690CF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5313" y="1240004"/>
            <a:ext cx="2511503" cy="4970547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67622D47-C9BA-4CAD-B2F1-46D1EC77EC8A}"/>
              </a:ext>
            </a:extLst>
          </p:cNvPr>
          <p:cNvSpPr txBox="1"/>
          <p:nvPr/>
        </p:nvSpPr>
        <p:spPr>
          <a:xfrm>
            <a:off x="4392221" y="553198"/>
            <a:ext cx="37753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</a:rPr>
              <a:t>旋转是否被阻挡的算法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06F82C2-7415-40D3-A38F-02EA0242FE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57" y="1240004"/>
            <a:ext cx="2511503" cy="497054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100B7B9-3982-47F3-9F40-B7CCC9808F1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86767" y="3896968"/>
            <a:ext cx="813597" cy="64703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EA00790-83C6-4EA4-A181-1AC814C12EDF}"/>
              </a:ext>
            </a:extLst>
          </p:cNvPr>
          <p:cNvPicPr>
            <a:picLocks noChangeAspect="1"/>
          </p:cNvPicPr>
          <p:nvPr/>
        </p:nvPicPr>
        <p:blipFill>
          <a:blip r:embed="rId4">
            <a:grayscl/>
          </a:blip>
          <a:stretch>
            <a:fillRect/>
          </a:stretch>
        </p:blipFill>
        <p:spPr>
          <a:xfrm>
            <a:off x="3015175" y="1240004"/>
            <a:ext cx="2547324" cy="497054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DE1A049-8DE2-41C1-A0A0-AD73591BA36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grayscl/>
          </a:blip>
          <a:stretch>
            <a:fillRect/>
          </a:stretch>
        </p:blipFill>
        <p:spPr>
          <a:xfrm rot="5400000">
            <a:off x="3661905" y="4018396"/>
            <a:ext cx="813597" cy="647034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D9F501C4-2C75-4430-B8E9-4E9905314EBE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5865313" y="1240004"/>
            <a:ext cx="2548349" cy="4968671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9EDA9A6F-B64A-4A2D-AD89-01878E523B29}"/>
              </a:ext>
            </a:extLst>
          </p:cNvPr>
          <p:cNvSpPr txBox="1"/>
          <p:nvPr/>
        </p:nvSpPr>
        <p:spPr>
          <a:xfrm>
            <a:off x="2929612" y="6208675"/>
            <a:ext cx="28177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</a:rPr>
              <a:t>定义一个临时的</a:t>
            </a:r>
            <a:endParaRPr lang="en-US" altLang="zh-CN" sz="1200" dirty="0">
              <a:solidFill>
                <a:schemeClr val="bg1"/>
              </a:solidFill>
            </a:endParaRPr>
          </a:p>
          <a:p>
            <a:pPr algn="ctr"/>
            <a:r>
              <a:rPr lang="en-US" altLang="zh-CN" sz="1200" dirty="0">
                <a:solidFill>
                  <a:schemeClr val="bg1"/>
                </a:solidFill>
              </a:rPr>
              <a:t>20×10</a:t>
            </a:r>
            <a:r>
              <a:rPr lang="zh-CN" altLang="en-US" sz="1200" dirty="0">
                <a:solidFill>
                  <a:schemeClr val="bg1"/>
                </a:solidFill>
              </a:rPr>
              <a:t>的二维数组</a:t>
            </a:r>
            <a:endParaRPr lang="en-US" altLang="zh-CN" sz="1200" dirty="0">
              <a:solidFill>
                <a:schemeClr val="bg1"/>
              </a:solidFill>
            </a:endParaRPr>
          </a:p>
          <a:p>
            <a:pPr algn="ctr"/>
            <a:r>
              <a:rPr lang="zh-CN" altLang="en-US" sz="1200" dirty="0">
                <a:solidFill>
                  <a:schemeClr val="bg1"/>
                </a:solidFill>
              </a:rPr>
              <a:t>保存旋转后的方块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35CAB92-489C-4604-8010-60D19DC5FE0E}"/>
              </a:ext>
            </a:extLst>
          </p:cNvPr>
          <p:cNvSpPr txBox="1"/>
          <p:nvPr/>
        </p:nvSpPr>
        <p:spPr>
          <a:xfrm>
            <a:off x="5747339" y="6208675"/>
            <a:ext cx="27842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</a:rPr>
              <a:t>判断临时数组是否</a:t>
            </a:r>
            <a:endParaRPr lang="en-US" altLang="zh-CN" sz="1400" dirty="0">
              <a:solidFill>
                <a:schemeClr val="bg1"/>
              </a:solidFill>
            </a:endParaRPr>
          </a:p>
          <a:p>
            <a:pPr algn="ctr"/>
            <a:r>
              <a:rPr lang="zh-CN" altLang="en-US" sz="1400" dirty="0">
                <a:solidFill>
                  <a:schemeClr val="bg1"/>
                </a:solidFill>
              </a:rPr>
              <a:t>与</a:t>
            </a:r>
            <a:r>
              <a:rPr lang="en-US" altLang="zh-CN" sz="1400" dirty="0">
                <a:solidFill>
                  <a:schemeClr val="bg1"/>
                </a:solidFill>
              </a:rPr>
              <a:t>shiKuai</a:t>
            </a:r>
            <a:r>
              <a:rPr lang="zh-CN" altLang="en-US" sz="1400" dirty="0">
                <a:solidFill>
                  <a:schemeClr val="bg1"/>
                </a:solidFill>
              </a:rPr>
              <a:t>有方块重合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8415CFBA-D97C-4417-AE74-FB44A6623B73}"/>
              </a:ext>
            </a:extLst>
          </p:cNvPr>
          <p:cNvSpPr txBox="1"/>
          <p:nvPr/>
        </p:nvSpPr>
        <p:spPr>
          <a:xfrm>
            <a:off x="9107759" y="6208675"/>
            <a:ext cx="27842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</a:rPr>
              <a:t>如果没有重合，就把临时二维数组赋值给</a:t>
            </a:r>
            <a:r>
              <a:rPr lang="en-US" altLang="zh-CN" sz="1400" dirty="0">
                <a:solidFill>
                  <a:schemeClr val="bg1"/>
                </a:solidFill>
              </a:rPr>
              <a:t>luoKuai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F1CCFB00-7963-410D-BDFB-678D47D7E9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2011" y="1238128"/>
            <a:ext cx="2547324" cy="4970547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68042341-6D87-41F6-9A2C-0961EE65992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rot="5400000">
            <a:off x="9901135" y="4042810"/>
            <a:ext cx="813599" cy="59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0618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" name="幻灯片缩放定位 2">
                <a:extLst>
                  <a:ext uri="{FF2B5EF4-FFF2-40B4-BE49-F238E27FC236}">
                    <a16:creationId xmlns:a16="http://schemas.microsoft.com/office/drawing/2014/main" id="{0561C573-CE62-4D36-8A76-9DE4E69C087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41555922"/>
                  </p:ext>
                </p:extLst>
              </p:nvPr>
            </p:nvGraphicFramePr>
            <p:xfrm>
              <a:off x="1259840" y="0"/>
              <a:ext cx="9042400" cy="5086351"/>
            </p:xfrm>
            <a:graphic>
              <a:graphicData uri="http://schemas.microsoft.com/office/powerpoint/2016/slidezoom">
                <pslz:sldZm>
                  <pslz:sldZmObj sldId="280" cId="3782061844">
                    <pslz:zmPr id="{A3356ECD-D7F0-4F6F-A573-674173DBFA07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9042400" cy="5086351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" name="幻灯片缩放定位 2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0561C573-CE62-4D36-8A76-9DE4E69C087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59840" y="0"/>
                <a:ext cx="9042400" cy="5086351"/>
              </a:xfrm>
              <a:prstGeom prst="rect">
                <a:avLst/>
              </a:prstGeom>
              <a:ln w="3175">
                <a:noFill/>
              </a:ln>
            </p:spPr>
          </p:pic>
        </mc:Fallback>
      </mc:AlternateContent>
      <p:pic>
        <p:nvPicPr>
          <p:cNvPr id="7" name="图片 6">
            <a:extLst>
              <a:ext uri="{FF2B5EF4-FFF2-40B4-BE49-F238E27FC236}">
                <a16:creationId xmlns:a16="http://schemas.microsoft.com/office/drawing/2014/main" id="{591E7D3B-5AA5-44E1-B627-EFEAECB066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8178" y="5247191"/>
            <a:ext cx="2475914" cy="126699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BEBD1F2-DD11-4E6F-ABD0-974BC5EB0B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76095" y="5247191"/>
            <a:ext cx="2241894" cy="145198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7DAC38A2-0614-4D00-80DC-B8403D7EBF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19992" y="5247191"/>
            <a:ext cx="2241894" cy="132138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132338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5599</TotalTime>
  <Words>623</Words>
  <Application>Microsoft Office PowerPoint</Application>
  <PresentationFormat>宽屏</PresentationFormat>
  <Paragraphs>210</Paragraphs>
  <Slides>26</Slides>
  <Notes>0</Notes>
  <HiddenSlides>0</HiddenSlides>
  <MMClips>5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5" baseType="lpstr">
      <vt:lpstr>-apple-system</vt:lpstr>
      <vt:lpstr>Helvetica Neue</vt:lpstr>
      <vt:lpstr>PingFang SC</vt:lpstr>
      <vt:lpstr>等线</vt:lpstr>
      <vt:lpstr>等线 Light</vt:lpstr>
      <vt:lpstr>微软雅黑</vt:lpstr>
      <vt:lpstr>Arial</vt:lpstr>
      <vt:lpstr>Arial Black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zhang jinhai</dc:creator>
  <cp:lastModifiedBy>zhang jinhai</cp:lastModifiedBy>
  <cp:revision>63</cp:revision>
  <dcterms:created xsi:type="dcterms:W3CDTF">2021-11-15T05:44:03Z</dcterms:created>
  <dcterms:modified xsi:type="dcterms:W3CDTF">2021-11-19T03:04:08Z</dcterms:modified>
</cp:coreProperties>
</file>